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828800" y="-914400"/>
            <a:ext cx="5486400" cy="4572000"/>
          </a:xfrm>
          <a:prstGeom prst="rect">
            <a:avLst/>
          </a:prstGeom>
          <a:solidFill>
            <a:srgbClr val="243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4114800"/>
            <a:ext cx="5486400" cy="3657600"/>
          </a:xfrm>
          <a:prstGeom prst="rect">
            <a:avLst/>
          </a:prstGeom>
          <a:solidFill>
            <a:srgbClr val="252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0" b="1">
                <a:solidFill>
                  <a:srgbClr val="FFFFFF"/>
                </a:solidFill>
                <a:latin typeface="Calibri"/>
              </a:rPr>
              <a:t>Dokaz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9A8D4"/>
                </a:solidFill>
                <a:latin typeface="Calibri"/>
              </a:rPr>
              <a:t>Backup verification you can independently prove.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7DEE7"/>
                </a:solidFill>
                <a:latin typeface="Calibri"/>
              </a:rPr>
              <a:t>Dokaz periodically restores your database backups in an isolated sandbox, asserts the data is intact, and emits a signed Proof-of-Recovery PDF any auditor can verify without trusting 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37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CB1F7"/>
                </a:solidFill>
                <a:latin typeface="Consolas"/>
              </a:rPr>
              <a:t>dokaz.net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57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7B6"/>
                </a:solidFill>
                <a:latin typeface="Calibri"/>
              </a:rPr>
              <a:t>Series Seed · B2B infrastructure · Postgres today, MySQL / MongoDB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30936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D6C80"/>
                </a:solidFill>
                <a:latin typeface="Consolas"/>
              </a:rPr>
              <a:t>Investor briefing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DF1F6"/>
                </a:solidFill>
                <a:latin typeface="Calibri"/>
              </a:rPr>
              <a:t>Dokaz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2004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D6C80"/>
                </a:solidFill>
                <a:latin typeface="Consolas"/>
              </a:rPr>
              <a:t>02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9A8D4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DF1F6"/>
                </a:solidFill>
                <a:latin typeface="Calibri"/>
              </a:rPr>
              <a:t>Backups fail silently. You find out during the outage.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548640" cy="36576"/>
          </a:xfrm>
          <a:prstGeom prst="rect">
            <a:avLst/>
          </a:prstGeom>
          <a:solidFill>
            <a:srgbClr val="F4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3520440" cy="233172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8A9C"/>
                </a:solidFill>
                <a:latin typeface="Calibri"/>
              </a:rPr>
              <a:t>CYBER-INSURANCE RENEWAL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6E9BF0"/>
                </a:solidFill>
                <a:latin typeface="Calibri"/>
              </a:rPr>
              <a:t>Every 12 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Carriers ask for "restore-tested-in-last-12-months" evidence. "Our backup job succeeded" does not satisfy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194560"/>
            <a:ext cx="3520440" cy="233172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423160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8A9C"/>
                </a:solidFill>
                <a:latin typeface="Calibri"/>
              </a:rPr>
              <a:t>SOC 2 CC7.4 / A1.3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743200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48FB1"/>
                </a:solidFill>
                <a:latin typeface="Calibri"/>
              </a:rPr>
              <a:t>Restore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611880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Auditors expect a *restored* backup with data checks — not a green checkmark on a job log. Most teams fake this quarterly.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94560"/>
            <a:ext cx="3520440" cy="233172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423160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8A9C"/>
                </a:solidFill>
                <a:latin typeface="Calibri"/>
              </a:rPr>
              <a:t>ACTUAL OUTAGES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743200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6B81"/>
                </a:solidFill>
                <a:latin typeface="Calibri"/>
              </a:rPr>
              <a:t>First-restore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611880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Most companies discover their backup format changed / a column got dropped / the archive is truncated the day they need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3776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7DEE7"/>
                </a:solidFill>
                <a:latin typeface="Calibri"/>
              </a:rPr>
              <a:t>"Successful backup job" measures that a file was written. It does not measure whether the file, on restore, produces the data you expect. Every regulated B2B company already writes backups — very few actually verify them, because verifying means running a real restore somewhere. Dokaz is that somewhere.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DF1F6"/>
                </a:solidFill>
                <a:latin typeface="Calibri"/>
              </a:rPr>
              <a:t>Dokaz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2004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D6C80"/>
                </a:solidFill>
                <a:latin typeface="Consolas"/>
              </a:rPr>
              <a:t>03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9A8D4"/>
                </a:solidFill>
                <a:latin typeface="Calibri"/>
              </a:rP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DF1F6"/>
                </a:solidFill>
                <a:latin typeface="Calibri"/>
              </a:rPr>
              <a:t>A drill is a real restore, on a schedule, cryptographically signed.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548640" cy="36576"/>
          </a:xfrm>
          <a:prstGeom prst="rect">
            <a:avLst/>
          </a:prstGeom>
          <a:solidFill>
            <a:srgbClr val="F4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1783080" cy="155448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37744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59152"/>
            <a:ext cx="685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DF1F6"/>
                </a:solidFill>
                <a:latin typeface="Calibri"/>
              </a:rPr>
              <a:t>Provision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1234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Spin up an isolated sandbox database. Ephemeral, torn down after the drill.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2194560"/>
            <a:ext cx="1783080" cy="155448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51760" y="237744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359152"/>
            <a:ext cx="685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DF1F6"/>
                </a:solidFill>
                <a:latin typeface="Calibri"/>
              </a:rPr>
              <a:t>Fetch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880360"/>
            <a:ext cx="1234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Pull the customer's dump. Hash it (SHA-256) — that hash goes in the receipt.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194560"/>
            <a:ext cx="1783080" cy="155448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26280" y="237744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359152"/>
            <a:ext cx="685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DF1F6"/>
                </a:solidFill>
                <a:latin typeface="Calibri"/>
              </a:rPr>
              <a:t>Restore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880360"/>
            <a:ext cx="1234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pg_restore into the sandbox. If the archive is corrupt, we find out here.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194560"/>
            <a:ext cx="1783080" cy="155448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0" y="237744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2359152"/>
            <a:ext cx="685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DF1F6"/>
                </a:solidFill>
                <a:latin typeface="Calibri"/>
              </a:rPr>
              <a:t>Assert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880360"/>
            <a:ext cx="1234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Run the customer's data checks: row_count, table_exists, no_nulls, SQL.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194560"/>
            <a:ext cx="1783080" cy="155448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75320" y="237744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2359152"/>
            <a:ext cx="685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DF1F6"/>
                </a:solidFill>
                <a:latin typeface="Calibri"/>
              </a:rPr>
              <a:t>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880360"/>
            <a:ext cx="1234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Render the PDF. Sign it with our Ed25519 key. Store the signature.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21240" y="2194560"/>
            <a:ext cx="1783080" cy="155448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149840" y="237744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44200" y="2359152"/>
            <a:ext cx="685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DF1F6"/>
                </a:solidFill>
                <a:latin typeface="Calibri"/>
              </a:rPr>
              <a:t>Teardown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560" y="2880360"/>
            <a:ext cx="1234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Destroy the sandbox and the working copy. The evidence PDF survives.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206240"/>
            <a:ext cx="11064240" cy="228600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389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8A9C"/>
                </a:solidFill>
                <a:latin typeface="Calibri"/>
              </a:rPr>
              <a:t>PROOF-OF-RECOVERY EVIDENCE (SAMPLE OUTPUT)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66960" y="44348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2BA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11151A"/>
                </a:solidFill>
              </a:rPr>
              <a:t>VERIFIED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8463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4CFDB"/>
                </a:solidFill>
                <a:latin typeface="Consolas"/>
              </a:rPr>
              <a:t>sha256(dump)       a1f9c2e4b7…d83f   matches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1663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4CFDB"/>
                </a:solidFill>
                <a:latin typeface="Consolas"/>
              </a:rPr>
              <a:t>signature          ed25519:9f2c4b…a17b   valid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4864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4CFDB"/>
                </a:solidFill>
                <a:latin typeface="Consolas"/>
              </a:rPr>
              <a:t>assertions passed  6 / 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8064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4CFDB"/>
                </a:solidFill>
                <a:latin typeface="Consolas"/>
              </a:rPr>
              <a:t>retain until       2033-05-22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AA7B6"/>
                </a:solidFill>
                <a:latin typeface="Calibri"/>
              </a:rPr>
              <a:t>The moat: every signature is verifiable with our open-source dokaz-verify CLI against the public key at dokaz.net/.well-known/evidence-signing-keys.pem — auditors do not need to trust Dokaz.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DF1F6"/>
                </a:solidFill>
                <a:latin typeface="Calibri"/>
              </a:rPr>
              <a:t>Dokaz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2004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D6C80"/>
                </a:solidFill>
                <a:latin typeface="Consolas"/>
              </a:rPr>
              <a:t>04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9A8D4"/>
                </a:solidFill>
                <a:latin typeface="Calibri"/>
              </a:rPr>
              <a:t>ONBOARDING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DF1F6"/>
                </a:solidFill>
                <a:latin typeface="Calibri"/>
              </a:rPr>
              <a:t>From signup to a signed report in 30 seconds.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548640" cy="36576"/>
          </a:xfrm>
          <a:prstGeom prst="rect">
            <a:avLst/>
          </a:prstGeom>
          <a:solidFill>
            <a:srgbClr val="F4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2697480" cy="237744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56032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42032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DF1F6"/>
                </a:solidFill>
                <a:latin typeface="Calibri"/>
              </a:rPr>
              <a:t>Sign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21488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Email + password. $1 first month; card required, cancel anytime. The trial gives one real database at weekly cadence, so the buyer proves the product on their own dump.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377440"/>
            <a:ext cx="2697480" cy="237744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11880" y="256032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542032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DF1F6"/>
                </a:solidFill>
                <a:latin typeface="Calibri"/>
              </a:rPr>
              <a:t>Run the sample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063240"/>
            <a:ext cx="21488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A one-click drill against our built-in Postgres fixture runs the full six-step pipeline in ~2 seconds and produces a real signed PDF. This is the aha moment — before they connect anything.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377440"/>
            <a:ext cx="2697480" cy="237744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46520" y="256032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542032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DF1F6"/>
                </a:solidFill>
                <a:latin typeface="Calibri"/>
              </a:rPr>
              <a:t>Connect a 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063240"/>
            <a:ext cx="21488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Point Dokaz at a pg_dump. We fetch, restore in an isolated sandbox, assert row counts / table exists / no nulls, and sign the result. Weekly on Starter and Growth, daily on Scale.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377440"/>
            <a:ext cx="2697480" cy="237744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81160" y="2560320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542032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DF1F6"/>
                </a:solidFill>
                <a:latin typeface="Calibri"/>
              </a:rPr>
              <a:t>Share the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063240"/>
            <a:ext cx="21488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One tokenised URL for the auditor. Read-only, no Dokaz account, expires in 30 days. Signature verifies against the same public key the CLI uses.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02920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7DEE7"/>
                </a:solidFill>
                <a:latin typeface="Calibri"/>
              </a:rPr>
              <a:t>The 30-second sample drill is the funnel. It short-circuits the classic "free trial that never actually shows the value" pattern — the prospect sees the exact signed PDF their auditor will see, before they touch their own infra. First-time-value is the sale.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DF1F6"/>
                </a:solidFill>
                <a:latin typeface="Calibri"/>
              </a:rPr>
              <a:t>Dokaz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2004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D6C80"/>
                </a:solidFill>
                <a:latin typeface="Consolas"/>
              </a:rPr>
              <a:t>05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9A8D4"/>
                </a:solidFill>
                <a:latin typeface="Calibri"/>
              </a:rPr>
              <a:t>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DF1F6"/>
                </a:solidFill>
                <a:latin typeface="Calibri"/>
              </a:rPr>
              <a:t>The evidence chain, and the surfaces around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548640" cy="36576"/>
          </a:xfrm>
          <a:prstGeom prst="rect">
            <a:avLst/>
          </a:prstGeom>
          <a:solidFill>
            <a:srgbClr val="F4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3703320" cy="137160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54864" cy="914400"/>
          </a:xfrm>
          <a:prstGeom prst="rect">
            <a:avLst/>
          </a:prstGeom>
          <a:solidFill>
            <a:srgbClr val="6E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DF1F6"/>
                </a:solidFill>
                <a:latin typeface="Calibri"/>
              </a:rPr>
              <a:t>Six-step drill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4320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Provision → fetch → restore → assert → report → teardown. Every step has structured logs, a status, and a 16 KiB output snippet.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148840"/>
            <a:ext cx="3703320" cy="137160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377440"/>
            <a:ext cx="54864" cy="914400"/>
          </a:xfrm>
          <a:prstGeom prst="rect">
            <a:avLst/>
          </a:prstGeom>
          <a:solidFill>
            <a:srgbClr val="F4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37744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DF1F6"/>
                </a:solidFill>
                <a:latin typeface="Calibri"/>
              </a:rPr>
              <a:t>Ed25519-signed 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74320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Detached signature over the SHA-256 of the PDF. Retention configurable to 7 years. Signing key rotation preserves verifiability of old reports.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148840"/>
            <a:ext cx="3703320" cy="137160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2377440"/>
            <a:ext cx="54864" cy="914400"/>
          </a:xfrm>
          <a:prstGeom prst="rect">
            <a:avLst/>
          </a:prstGeom>
          <a:solidFill>
            <a:srgbClr val="56C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37744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DF1F6"/>
                </a:solidFill>
                <a:latin typeface="Calibri"/>
              </a:rPr>
              <a:t>Open-source verifier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74320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dokaz-verify CLI is 200 lines of Go. Zero Dokaz-specific runtime — auditors run it on their machine against the published public key.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611880"/>
            <a:ext cx="3703320" cy="137160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840480"/>
            <a:ext cx="54864" cy="914400"/>
          </a:xfrm>
          <a:prstGeom prst="rect">
            <a:avLst/>
          </a:prstGeom>
          <a:solidFill>
            <a:srgbClr val="F4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84048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DF1F6"/>
                </a:solidFill>
                <a:latin typeface="Calibri"/>
              </a:rPr>
              <a:t>Auditor share links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20624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Tokenised, expiring, revocable URLs. Read-only receipt + downloadable PDF + "verify independently" affordance. No Dokaz account required.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611880"/>
            <a:ext cx="3703320" cy="137160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840480"/>
            <a:ext cx="54864" cy="914400"/>
          </a:xfrm>
          <a:prstGeom prst="rect">
            <a:avLst/>
          </a:prstGeom>
          <a:solidFill>
            <a:srgbClr val="6E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84048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DF1F6"/>
                </a:solidFill>
                <a:latin typeface="Calibri"/>
              </a:rPr>
              <a:t>Recovery-readiness 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20624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Per-database A-F grade fusing freshness, pass rate, and last outcome. The single glanceable answer to "how confident should I be if I had to restore now?"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611880"/>
            <a:ext cx="3703320" cy="137160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3840480"/>
            <a:ext cx="54864" cy="914400"/>
          </a:xfrm>
          <a:prstGeom prst="rect">
            <a:avLst/>
          </a:prstGeom>
          <a:solidFill>
            <a:srgbClr val="56C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384048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DF1F6"/>
                </a:solidFill>
                <a:latin typeface="Calibri"/>
              </a:rPr>
              <a:t>Native alerting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20624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Drill fails → Slack + PagerDuty + email + mobile push. Backup check-ins (heartbeats) fire the same paths when a job stops running.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074920"/>
            <a:ext cx="3703320" cy="137160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5303520"/>
            <a:ext cx="54864" cy="914400"/>
          </a:xfrm>
          <a:prstGeom prst="rect">
            <a:avLst/>
          </a:prstGeom>
          <a:solidFill>
            <a:srgbClr val="6E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30352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DF1F6"/>
                </a:solidFill>
                <a:latin typeface="Calibri"/>
              </a:rPr>
              <a:t>Public /verify page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66928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An auditor pastes a PDF + signature JSON, the browser checks it against the published key. Zero trust in Dokaz. Renders as the same receipt.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43400" y="5074920"/>
            <a:ext cx="3703320" cy="137160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43400" y="5303520"/>
            <a:ext cx="54864" cy="914400"/>
          </a:xfrm>
          <a:prstGeom prst="rect">
            <a:avLst/>
          </a:prstGeom>
          <a:solidFill>
            <a:srgbClr val="F4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530352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DF1F6"/>
                </a:solidFill>
                <a:latin typeface="Calibri"/>
              </a:rPr>
              <a:t>Evidence bundle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566928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One-click annual ZIP: every signed PDF + signatures + a manifest CSV. The exact artifact the auditor asks for at renewal.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5074920"/>
            <a:ext cx="3703320" cy="137160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38160" y="5303520"/>
            <a:ext cx="54864" cy="914400"/>
          </a:xfrm>
          <a:prstGeom prst="rect">
            <a:avLst/>
          </a:prstGeom>
          <a:solidFill>
            <a:srgbClr val="56C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66760" y="530352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DF1F6"/>
                </a:solidFill>
                <a:latin typeface="Calibri"/>
              </a:rPr>
              <a:t>REST API + webhooks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566928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Versioned /v1 with per-plan rate limits. Signed webhooks for drill.failed / heartbeat.down. Powers the responder mobile app.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DF1F6"/>
                </a:solidFill>
                <a:latin typeface="Calibri"/>
              </a:rPr>
              <a:t>Dokaz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2004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D6C80"/>
                </a:solidFill>
                <a:latin typeface="Consolas"/>
              </a:rPr>
              <a:t>06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9A8D4"/>
                </a:solidFill>
                <a:latin typeface="Calibri"/>
              </a:rPr>
              <a:t>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DF1F6"/>
                </a:solidFill>
                <a:latin typeface="Calibri"/>
              </a:rPr>
              <a:t>A failed drill and a successful one — both make the same evidence.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548640" cy="36576"/>
          </a:xfrm>
          <a:prstGeom prst="rect">
            <a:avLst/>
          </a:prstGeom>
          <a:solidFill>
            <a:srgbClr val="F4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5532120" cy="429768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DF1F6"/>
                </a:solidFill>
                <a:latin typeface="Calibri"/>
              </a:rPr>
              <a:t>production-primary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246888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2BA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11151A"/>
                </a:solidFill>
              </a:rPr>
              <a:t>PASSED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3464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8A9C"/>
                </a:solidFill>
                <a:latin typeface="Consolas"/>
              </a:rPr>
              <a:t>drill_a1f9c2e4 · pg_dump -Fc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46120"/>
            <a:ext cx="1177290" cy="685800"/>
          </a:xfrm>
          <a:prstGeom prst="roundRect">
            <a:avLst>
              <a:gd name="adj" fmla="val 10000"/>
            </a:avLst>
          </a:prstGeom>
          <a:solidFill>
            <a:srgbClr val="252C35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99441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7A8A9C"/>
                </a:solidFill>
                <a:latin typeface="Calibri"/>
              </a:rPr>
              <a:t>RESTORE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20440"/>
            <a:ext cx="9944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DF1F6"/>
                </a:solidFill>
                <a:latin typeface="Calibri"/>
              </a:rPr>
              <a:t>2m 14s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45970" y="3246120"/>
            <a:ext cx="1177290" cy="685800"/>
          </a:xfrm>
          <a:prstGeom prst="roundRect">
            <a:avLst>
              <a:gd name="adj" fmla="val 10000"/>
            </a:avLst>
          </a:prstGeom>
          <a:solidFill>
            <a:srgbClr val="252C35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37410" y="3291840"/>
            <a:ext cx="99441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7A8A9C"/>
                </a:solidFill>
                <a:latin typeface="Calibri"/>
              </a:rPr>
              <a:t>ROWS VERIFIED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37410" y="3520440"/>
            <a:ext cx="9944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DF1F6"/>
                </a:solidFill>
                <a:latin typeface="Calibri"/>
              </a:rPr>
              <a:t>4.2M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68980" y="3246120"/>
            <a:ext cx="1177290" cy="685800"/>
          </a:xfrm>
          <a:prstGeom prst="roundRect">
            <a:avLst>
              <a:gd name="adj" fmla="val 10000"/>
            </a:avLst>
          </a:prstGeom>
          <a:solidFill>
            <a:srgbClr val="252C35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60420" y="3291840"/>
            <a:ext cx="99441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7A8A9C"/>
                </a:solidFill>
                <a:latin typeface="Calibri"/>
              </a:rPr>
              <a:t>ASSERTIONS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0420" y="3520440"/>
            <a:ext cx="9944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DF1F6"/>
                </a:solidFill>
                <a:latin typeface="Calibri"/>
              </a:rPr>
              <a:t>6 / 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91990" y="3246120"/>
            <a:ext cx="1177290" cy="685800"/>
          </a:xfrm>
          <a:prstGeom prst="roundRect">
            <a:avLst>
              <a:gd name="adj" fmla="val 10000"/>
            </a:avLst>
          </a:prstGeom>
          <a:solidFill>
            <a:srgbClr val="252C35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3430" y="3291840"/>
            <a:ext cx="99441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7A8A9C"/>
                </a:solidFill>
                <a:latin typeface="Calibri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3430" y="3520440"/>
            <a:ext cx="9944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DF1F6"/>
                </a:solidFill>
                <a:latin typeface="Calibri"/>
              </a:rPr>
              <a:t>Signed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11480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2BA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11151A"/>
                </a:solidFill>
              </a:rPr>
              <a:t>provision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45920" y="411480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2BA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11151A"/>
                </a:solidFill>
              </a:rPr>
              <a:t>fetch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68880" y="411480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2BA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11151A"/>
                </a:solidFill>
              </a:rPr>
              <a:t>restore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0" y="411480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2BA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11151A"/>
                </a:solidFill>
              </a:rPr>
              <a:t>assert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0" y="411480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2BA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11151A"/>
                </a:solidFill>
              </a:rPr>
              <a:t>report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37760" y="411480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2BA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11151A"/>
                </a:solidFill>
              </a:rPr>
              <a:t>teardown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2194560"/>
            <a:ext cx="5532120" cy="429768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242316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DF1F6"/>
                </a:solidFill>
                <a:latin typeface="Calibri"/>
              </a:rPr>
              <a:t>billing-primary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61320" y="246888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6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11151A"/>
                </a:solidFill>
              </a:rPr>
              <a:t>FAILED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283464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8A9C"/>
                </a:solidFill>
                <a:latin typeface="Consolas"/>
              </a:rPr>
              <a:t>drill_f04ab991 · pg_dump -Fc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75120" y="3200400"/>
            <a:ext cx="4983480" cy="384048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FF6B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12280" y="3246120"/>
            <a:ext cx="4709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F6B81"/>
                </a:solidFill>
                <a:latin typeface="Consolas"/>
              </a:rPr>
              <a:t>assert no_nulls: column user_id had 3 nulls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3749040"/>
            <a:ext cx="1177290" cy="685800"/>
          </a:xfrm>
          <a:prstGeom prst="roundRect">
            <a:avLst>
              <a:gd name="adj" fmla="val 10000"/>
            </a:avLst>
          </a:prstGeom>
          <a:solidFill>
            <a:srgbClr val="252C35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3794760"/>
            <a:ext cx="99441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7A8A9C"/>
                </a:solidFill>
                <a:latin typeface="Calibri"/>
              </a:rPr>
              <a:t>RESTORE 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023360"/>
            <a:ext cx="9944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DF1F6"/>
                </a:solidFill>
                <a:latin typeface="Calibri"/>
              </a:rPr>
              <a:t>1m 02s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98130" y="3749040"/>
            <a:ext cx="1177290" cy="685800"/>
          </a:xfrm>
          <a:prstGeom prst="roundRect">
            <a:avLst>
              <a:gd name="adj" fmla="val 10000"/>
            </a:avLst>
          </a:prstGeom>
          <a:solidFill>
            <a:srgbClr val="252C35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89570" y="3794760"/>
            <a:ext cx="99441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7A8A9C"/>
                </a:solidFill>
                <a:latin typeface="Calibri"/>
              </a:rPr>
              <a:t>ROWS VERIFIED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89570" y="4023360"/>
            <a:ext cx="9944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DF1F6"/>
                </a:solidFill>
                <a:latin typeface="Calibri"/>
              </a:rPr>
              <a:t>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21140" y="3749040"/>
            <a:ext cx="1177290" cy="685800"/>
          </a:xfrm>
          <a:prstGeom prst="roundRect">
            <a:avLst>
              <a:gd name="adj" fmla="val 10000"/>
            </a:avLst>
          </a:prstGeom>
          <a:solidFill>
            <a:srgbClr val="252C35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12580" y="3794760"/>
            <a:ext cx="99441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7A8A9C"/>
                </a:solidFill>
                <a:latin typeface="Calibri"/>
              </a:rPr>
              <a:t>ASSERTIONS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12580" y="4023360"/>
            <a:ext cx="9944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DF1F6"/>
                </a:solidFill>
                <a:latin typeface="Calibri"/>
              </a:rPr>
              <a:t>3 / 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44150" y="3749040"/>
            <a:ext cx="1177290" cy="685800"/>
          </a:xfrm>
          <a:prstGeom prst="roundRect">
            <a:avLst>
              <a:gd name="adj" fmla="val 10000"/>
            </a:avLst>
          </a:prstGeom>
          <a:solidFill>
            <a:srgbClr val="252C35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35590" y="3794760"/>
            <a:ext cx="99441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7A8A9C"/>
                </a:solidFill>
                <a:latin typeface="Calibri"/>
              </a:rPr>
              <a:t>EVIDENCE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35590" y="4023360"/>
            <a:ext cx="9944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DF1F6"/>
                </a:solidFill>
                <a:latin typeface="Calibri"/>
              </a:rPr>
              <a:t>Withheld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75120" y="461772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2BA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11151A"/>
                </a:solidFill>
              </a:rPr>
              <a:t>provision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498080" y="461772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2BA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11151A"/>
                </a:solidFill>
              </a:rPr>
              <a:t>fetch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21040" y="461772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2BA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11151A"/>
                </a:solidFill>
              </a:rPr>
              <a:t>restore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44000" y="461772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6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11151A"/>
                </a:solidFill>
              </a:rPr>
              <a:t>assert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966960" y="461772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11151A"/>
                </a:solidFill>
              </a:rPr>
              <a:t>report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789920" y="461772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2BA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11151A"/>
                </a:solidFill>
              </a:rPr>
              <a:t>teardown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AA7B6"/>
                </a:solidFill>
                <a:latin typeface="Calibri"/>
              </a:rPr>
              <a:t>Same pipeline, same receipt shape, opposite verdicts. Both are auditor-usable evidence — one proves recoverability, one proves the failure was discovered *before* the customer needed the restore.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DF1F6"/>
                </a:solidFill>
                <a:latin typeface="Calibri"/>
              </a:rPr>
              <a:t>Dokaz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2004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D6C80"/>
                </a:solidFill>
                <a:latin typeface="Consolas"/>
              </a:rPr>
              <a:t>07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9A8D4"/>
                </a:solidFill>
                <a:latin typeface="Calibri"/>
              </a:rPr>
              <a:t>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DF1F6"/>
                </a:solidFill>
                <a:latin typeface="Calibri"/>
              </a:rPr>
              <a:t>Every regulated B2B company with a database is a buyer.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548640" cy="36576"/>
          </a:xfrm>
          <a:prstGeom prst="rect">
            <a:avLst/>
          </a:prstGeom>
          <a:solidFill>
            <a:srgbClr val="F4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3566160" cy="420624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8A9C"/>
                </a:solidFill>
                <a:latin typeface="Calibri"/>
              </a:rPr>
              <a:t>IMMEDIATE WEDGE — SOC 2 IN FLIGHT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8CB1F7"/>
                </a:solidFill>
                <a:latin typeface="Calibri"/>
              </a:rPr>
              <a:t>~50k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290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7B6"/>
                </a:solidFill>
                <a:latin typeface="Calibri"/>
              </a:rPr>
              <a:t>US SMB SaaS at Series A-C. Auditor at the door, backup-restore evidence in the checklist, no dedicated infra headcount.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862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· Vanta / Drata already sold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605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· Buys pain, not 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348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· CTO is champion + buyer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194560"/>
            <a:ext cx="3566160" cy="420624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4231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8A9C"/>
                </a:solidFill>
                <a:latin typeface="Calibri"/>
              </a:rPr>
              <a:t>ADJACENT — CYBER-INSURANCE RENEWALS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74320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8CB1F7"/>
                </a:solidFill>
                <a:latin typeface="Calibri"/>
              </a:rPr>
              <a:t>$8.4B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4290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7B6"/>
                </a:solidFill>
                <a:latin typeface="Calibri"/>
              </a:rPr>
              <a:t>US cyber-insurance policies annually. Every renewal now asks for restore-tested-in-last-12-months evidence. Nothing else on the market emits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8862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· Insurance broker referrals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1605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· Broker becomes distribution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4348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· Buys once a year, forever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2194560"/>
            <a:ext cx="3566160" cy="420624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4231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8A9C"/>
                </a:solidFill>
                <a:latin typeface="Calibri"/>
              </a:rPr>
              <a:t>ENTERPRISE — HIPAA / ISO 27001 / DORA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74320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8CB1F7"/>
                </a:solidFill>
                <a:latin typeface="Calibri"/>
              </a:rPr>
              <a:t>5x TAM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4290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7B6"/>
                </a:solidFill>
                <a:latin typeface="Calibri"/>
              </a:rPr>
              <a:t>Healthcare, EU financial services (DORA 2025), regulated fintech. Same evidence chain, tighter retention, VPC-hosted runner.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8862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· Longer cycle, bigger ACV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1605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· SSO / DPA / BAA required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4348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· Follows the SMB wedge in year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DF1F6"/>
                </a:solidFill>
                <a:latin typeface="Calibri"/>
              </a:rPr>
              <a:t>Dokaz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2004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D6C80"/>
                </a:solidFill>
                <a:latin typeface="Consolas"/>
              </a:rPr>
              <a:t>08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9A8D4"/>
                </a:solidFill>
                <a:latin typeface="Calibri"/>
              </a:rPr>
              <a:t>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DF1F6"/>
                </a:solidFill>
                <a:latin typeface="Calibri"/>
              </a:rPr>
              <a:t>Four tiers. Priced on drill volume — the marginal cost.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548640" cy="36576"/>
          </a:xfrm>
          <a:prstGeom prst="rect">
            <a:avLst/>
          </a:prstGeom>
          <a:solidFill>
            <a:srgbClr val="F4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2743200" cy="429768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DF1F6"/>
                </a:solidFill>
                <a:latin typeface="Calibri"/>
              </a:rPr>
              <a:t>Starter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8CB1F7"/>
                </a:solidFill>
                <a:latin typeface="Calibri"/>
              </a:rPr>
              <a:t>$99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8A9C"/>
                </a:solidFill>
                <a:latin typeface="Calibri"/>
              </a:rPr>
              <a:t>/mo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0332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252C35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73075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7A8A9C"/>
                </a:solidFill>
                <a:latin typeface="Calibri"/>
              </a:rPr>
              <a:t>DRILL FREQUENCY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1363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8CB1F7"/>
                </a:solidFill>
                <a:latin typeface="Calibri"/>
              </a:rPr>
              <a:t>Weekly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434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· 5 databases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360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· 3 seats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2861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· Signed PDF · 7-year retention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2122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· Auditor share links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1383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· Slack + PagerDuty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064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· Email support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2194560"/>
            <a:ext cx="2743200" cy="429768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25400">
            <a:solidFill>
              <a:srgbClr val="F48F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794760" y="205740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F4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11151A"/>
                </a:solidFill>
              </a:rPr>
              <a:t>MOST POPULAR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25146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DF1F6"/>
                </a:solidFill>
                <a:latin typeface="Calibri"/>
              </a:rPr>
              <a:t>Growth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288036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8CB1F7"/>
                </a:solidFill>
                <a:latin typeface="Calibri"/>
              </a:rPr>
              <a:t>$299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30632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8A9C"/>
                </a:solidFill>
                <a:latin typeface="Calibri"/>
              </a:rPr>
              <a:t>/mo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03320" y="370332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252C35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03320" y="373075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7A8A9C"/>
                </a:solidFill>
                <a:latin typeface="Calibri"/>
              </a:rPr>
              <a:t>DRILL FREQUENCY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391363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8CB1F7"/>
                </a:solidFill>
                <a:latin typeface="Calibri"/>
              </a:rPr>
              <a:t>Weekly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3434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· 25 databases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46360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· 10 seats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492861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· Everything in Starter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03320" y="522122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· API access · signed webhooks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551383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· Priority support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2194560"/>
            <a:ext cx="2743200" cy="429768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25146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DF1F6"/>
                </a:solidFill>
                <a:latin typeface="Calibri"/>
              </a:rPr>
              <a:t>Scale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288036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8CB1F7"/>
                </a:solidFill>
                <a:latin typeface="Calibri"/>
              </a:rPr>
              <a:t>$799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30632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8A9C"/>
                </a:solidFill>
                <a:latin typeface="Calibri"/>
              </a:rPr>
              <a:t>/mo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0" y="370332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252C35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373075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7A8A9C"/>
                </a:solidFill>
                <a:latin typeface="Calibri"/>
              </a:rPr>
              <a:t>DRILL FREQUENCY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391363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8CB1F7"/>
                </a:solidFill>
                <a:latin typeface="Calibri"/>
              </a:rPr>
              <a:t>Daily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3434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· Unlimited databases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46360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· Unlimited seats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492861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· Everything in Growth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522122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· Priority + dedicated channel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551383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· SSO (roadmap)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89720" y="2194560"/>
            <a:ext cx="2743200" cy="429768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64040" y="25146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DF1F6"/>
                </a:solidFill>
                <a:latin typeface="Calibri"/>
              </a:rPr>
              <a:t>Enterprise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64040" y="288036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8CB1F7"/>
                </a:solidFill>
                <a:latin typeface="Calibri"/>
              </a:rPr>
              <a:t>From $1.5k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64040" y="30632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8A9C"/>
                </a:solidFill>
                <a:latin typeface="Calibri"/>
              </a:rPr>
              <a:t>/mo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464040" y="370332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252C35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64040" y="373075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7A8A9C"/>
                </a:solidFill>
                <a:latin typeface="Calibri"/>
              </a:rPr>
              <a:t>DRILL FREQUENCY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64040" y="391363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8CB1F7"/>
                </a:solidFill>
                <a:latin typeface="Calibri"/>
              </a:rPr>
              <a:t>Custom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64040" y="43434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· Hourly + custom cadence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64040" y="46360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· Auditor read-only accounts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64040" y="492861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· BYO runner in your VPC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64040" y="522122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· Longer retention · custom SLA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64040" y="551383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7DEE7"/>
                </a:solidFill>
                <a:latin typeface="Calibri"/>
              </a:rPr>
              <a:t>· Named account manager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6583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AA7B6"/>
                </a:solidFill>
                <a:latin typeface="Calibri"/>
              </a:rPr>
              <a:t>Trial: $1 first month, one real database at weekly cadence — the buyer proves the product on their own dump before the paywall re-arms.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DF1F6"/>
                </a:solidFill>
                <a:latin typeface="Calibri"/>
              </a:rPr>
              <a:t>Dokaz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2004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D6C80"/>
                </a:solidFill>
                <a:latin typeface="Consolas"/>
              </a:rPr>
              <a:t>09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9A8D4"/>
                </a:solidFill>
                <a:latin typeface="Calibri"/>
              </a:rPr>
              <a:t>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DF1F6"/>
                </a:solidFill>
                <a:latin typeface="Calibri"/>
              </a:rPr>
              <a:t>Where we stand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548640" cy="36576"/>
          </a:xfrm>
          <a:prstGeom prst="rect">
            <a:avLst/>
          </a:prstGeom>
          <a:solidFill>
            <a:srgbClr val="F4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3566160" cy="192024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8A9C"/>
                </a:solidFill>
                <a:latin typeface="Calibri"/>
              </a:rPr>
              <a:t>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5FCBAC"/>
                </a:solidFill>
                <a:latin typeface="Calibri"/>
              </a:rPr>
              <a:t>Live at dokaz.net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49040"/>
            <a:ext cx="30175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Full evidence chain shipping. Public verifier, auditor share links, readiness score, native Slack + PagerDuty, mobile responder app.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2194560"/>
            <a:ext cx="3566160" cy="192024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4231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8A9C"/>
                </a:solidFill>
                <a:latin typeface="Calibri"/>
              </a:rPr>
              <a:t>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78892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5FCBAC"/>
                </a:solidFill>
                <a:latin typeface="Calibri"/>
              </a:rPr>
              <a:t>Self-migrating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749040"/>
            <a:ext cx="30175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Fly.io single-machine + Neon Postgres. Migrations run at server startup — deploys are one reliable step. Evidence keys persisted as Fly secrets.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2194560"/>
            <a:ext cx="3566160" cy="192024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4231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8A9C"/>
                </a:solidFill>
                <a:latin typeface="Calibri"/>
              </a:rPr>
              <a:t>SECURITY POSTURE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78892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5FCBAC"/>
                </a:solidFill>
                <a:latin typeface="Calibri"/>
              </a:rPr>
              <a:t>Argon2id + Ed25519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749040"/>
            <a:ext cx="30175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Passwords Argon2id, sessions HTTPS-only, evidence signed Ed25519 with rotation-tolerant verification, at-rest AES-GCM with per-account keys (crypto-shred).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51960"/>
            <a:ext cx="3566160" cy="192024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4805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8A9C"/>
                </a:solidFill>
                <a:latin typeface="Calibri"/>
              </a:rPr>
              <a:t>COMPLIANCE CHAIN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84632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5FCBAC"/>
                </a:solidFill>
                <a:latin typeface="Calibri"/>
              </a:rPr>
              <a:t>Verifiable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806440"/>
            <a:ext cx="30175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Every PDF signature verifies against the public key at dokaz.net/.well-known/evidence-signing-keys.pem via the open-source dokaz-verify CLI.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4251960"/>
            <a:ext cx="3566160" cy="192024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44805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8A9C"/>
                </a:solidFill>
                <a:latin typeface="Calibri"/>
              </a:rPr>
              <a:t>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84632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5FCBAC"/>
                </a:solidFill>
                <a:latin typeface="Calibri"/>
              </a:rPr>
              <a:t>One founder-engineer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5806440"/>
            <a:ext cx="30175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Sole builder to date. All backend, frontend, mobile, brand, and this deck. First-hire slot at $1M ARR: security-focused eng #2.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80" y="4251960"/>
            <a:ext cx="3566160" cy="192024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44805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A8A9C"/>
                </a:solidFill>
                <a:latin typeface="Calibri"/>
              </a:rPr>
              <a:t>TRACTION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84632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5FCBAC"/>
                </a:solidFill>
                <a:latin typeface="Calibri"/>
              </a:rPr>
              <a:t>Pre-launch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806440"/>
            <a:ext cx="30175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Marketing live, pipeline pre-outbound. Design system + brand shipped 2026 Q3. Fundraise timed to first-customer conversion.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DF1F6"/>
                </a:solidFill>
                <a:latin typeface="Calibri"/>
              </a:rPr>
              <a:t>Dokaz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2004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D6C80"/>
                </a:solidFill>
                <a:latin typeface="Consolas"/>
              </a:rPr>
              <a:t>10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9A8D4"/>
                </a:solidFill>
                <a:latin typeface="Calibri"/>
              </a:rPr>
              <a:t>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DF1F6"/>
                </a:solidFill>
                <a:latin typeface="Calibri"/>
              </a:rPr>
              <a:t>The next 90 days.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548640" cy="36576"/>
          </a:xfrm>
          <a:prstGeom prst="rect">
            <a:avLst/>
          </a:prstGeom>
          <a:solidFill>
            <a:srgbClr val="F4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3566160" cy="429768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54864" cy="3840480"/>
          </a:xfrm>
          <a:prstGeom prst="rect">
            <a:avLst/>
          </a:prstGeom>
          <a:solidFill>
            <a:srgbClr val="6E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E9BF0"/>
                </a:solidFill>
                <a:latin typeface="Calibri"/>
              </a:rPr>
              <a:t>DAYS 0-30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974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DF1F6"/>
                </a:solidFill>
                <a:latin typeface="Calibri"/>
              </a:rPr>
              <a:t>Outbound + first ten 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4612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· ICP: US SMB SaaS Series A-C, SOC 2 in flight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3872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· 3-5 cold-email variants keyed on segment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31336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· Enrichment: SOC 2 badge, hiring signal, insurance renewal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2394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· Weekly demo cadence on Loom, sub-3-minute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1655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· Goal: 10 paid pilots at $299 (Growth)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2194560"/>
            <a:ext cx="3566160" cy="429768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2423160"/>
            <a:ext cx="54864" cy="3840480"/>
          </a:xfrm>
          <a:prstGeom prst="rect">
            <a:avLst/>
          </a:prstGeom>
          <a:solidFill>
            <a:srgbClr val="F4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4231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48FB1"/>
                </a:solidFill>
                <a:latin typeface="Calibri"/>
              </a:rPr>
              <a:t>DAYS 30-60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6974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DF1F6"/>
                </a:solidFill>
                <a:latin typeface="Calibri"/>
              </a:rPr>
              <a:t>MySQL + auditor 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24612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· MySQL restore + assertion engine (Fable audit: clean split)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53872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· Auditor-view-only role (no-drill account)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831336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· Evidence-bundle: quarterly generation cron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12394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· PagerDuty AI-agent playbook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41655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· Goal: expand paid pilots to 25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80" y="2194560"/>
            <a:ext cx="3566160" cy="4297680"/>
          </a:xfrm>
          <a:prstGeom prst="roundRect">
            <a:avLst>
              <a:gd name="adj" fmla="val 10000"/>
            </a:avLst>
          </a:prstGeom>
          <a:solidFill>
            <a:srgbClr val="2E3640"/>
          </a:solidFill>
          <a:ln w="9525">
            <a:solidFill>
              <a:srgbClr val="334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5280" y="2423160"/>
            <a:ext cx="54864" cy="3840480"/>
          </a:xfrm>
          <a:prstGeom prst="rect">
            <a:avLst/>
          </a:prstGeom>
          <a:solidFill>
            <a:srgbClr val="56C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80" y="24231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6C596"/>
                </a:solidFill>
                <a:latin typeface="Calibri"/>
              </a:rPr>
              <a:t>DAYS 60-90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26974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DF1F6"/>
                </a:solidFill>
                <a:latin typeface="Calibri"/>
              </a:rPr>
              <a:t>Enterprise motion + fundraise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324612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· BYO-runner (deploy in customer VPC) beta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353872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· SSO (SAML + OIDC) + DPA + BAA templates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3831336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· First insurance-broker partnership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412394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· Sales collateral for insurance channel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441655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7DEE7"/>
                </a:solidFill>
                <a:latin typeface="Calibri"/>
              </a:rPr>
              <a:t>· Series Seed close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