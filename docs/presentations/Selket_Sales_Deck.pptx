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778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7F1D1D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914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SELKET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5000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F1D1D"/>
                </a:solidFill>
                <a:latin typeface="Calibri"/>
              </a:rPr>
              <a:t>BACKUP VERIFICATION AS A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Backup verification
you can prove.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EE2E2"/>
                </a:solidFill>
                <a:latin typeface="Calibri"/>
              </a:rPr>
              <a:t>Stop finding out about broken backups during the outage.
We drill them every day and sign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897880"/>
            <a:ext cx="4754880" cy="502920"/>
          </a:xfrm>
          <a:prstGeom prst="roundRect">
            <a:avLst>
              <a:gd name="adj" fmla="val 4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907024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F1D1D"/>
                </a:solidFill>
                <a:latin typeface="Calibri"/>
              </a:rPr>
              <a:t>→  Start free at  app.selket.io/signup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Calibri"/>
              </a:rPr>
              <a:t>THE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Your backups are untested until something restores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2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app.selket.io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73152" cy="32918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Calibri"/>
              </a:rPr>
              <a:t>INDUSTRY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991B1B"/>
                </a:solidFill>
                <a:latin typeface="Calibri"/>
              </a:rPr>
              <a:t>1 in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3F3F46"/>
                </a:solidFill>
                <a:latin typeface="Calibri"/>
              </a:rPr>
              <a:t>restore attempts fail on the first try.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Industry survey average across mid-market teams.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554480"/>
            <a:ext cx="54864" cy="96012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1907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Backup software reports "success" too early.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It writes the bytes. It does not verify the bytes can be restored into a working database.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9748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697480"/>
            <a:ext cx="54864" cy="96012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86207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Failure modes are invisible until the outage.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15468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Schema drift, corrupted blocks, missing WAL segments, key rotation gone wrong — silent.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840480"/>
            <a:ext cx="566928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3840480"/>
            <a:ext cx="54864" cy="96012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00507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Downtime costs $5,600 per minute.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9768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Gartner industry average. By the time you discover the gap, you are already in the outage.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7492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074920"/>
            <a:ext cx="73152" cy="10972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578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Calibri"/>
              </a:rPr>
              <a:t>THE QUESTION YOUR BOARD WILL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778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"When was the last time someone actually restored from a backup, end to end, and proved it worked?"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Calibri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We run a drill on your backup every day — and sign the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3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app.selket.io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1579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157984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2057400"/>
            <a:ext cx="502920" cy="50292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66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Provision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17922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Spin up an isolated
Postgres sandbox.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783080"/>
            <a:ext cx="21579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1783080"/>
            <a:ext cx="2157984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057400"/>
            <a:ext cx="502920" cy="50292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066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69748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Fetch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108960"/>
            <a:ext cx="17922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Pull the latest dump from
your storage (S3/GCS/R2).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1783080"/>
            <a:ext cx="21579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4064" y="1783080"/>
            <a:ext cx="2157984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40096" y="2057400"/>
            <a:ext cx="502920" cy="50292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0096" y="2066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69748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Restore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3108960"/>
            <a:ext cx="17922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Restore the dump cleanly
into the sandbox.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1776" y="1783080"/>
            <a:ext cx="21579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1776" y="1783080"/>
            <a:ext cx="2157984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07808" y="2057400"/>
            <a:ext cx="502920" cy="50292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066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269748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Assert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6096" y="3108960"/>
            <a:ext cx="17922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Run your SQL invariants:
row counts, FK integrity.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19488" y="1783080"/>
            <a:ext cx="21579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19488" y="1783080"/>
            <a:ext cx="2157984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75520" y="2057400"/>
            <a:ext cx="502920" cy="50292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2066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2697480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3108960"/>
            <a:ext cx="17922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Produce an Ed25519-signed
PDF evidence report.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5720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572000"/>
            <a:ext cx="73152" cy="13716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754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47857"/>
                </a:solidFill>
                <a:latin typeface="Calibri"/>
              </a:rPr>
              <a:t>✓  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074920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Signed PDF evidence in your dashboard.
Ready for SOC 2 auditors, board, and customers.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5720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572000"/>
            <a:ext cx="73152" cy="13716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754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91C1C"/>
                </a:solidFill>
                <a:latin typeface="Calibri"/>
              </a:rPr>
              <a:t>✗  FAIL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074920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Paged engineer, Slack alert, root cause in
the report. You learn in minutes, not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Calibri"/>
              </a:rPr>
              <a:t>WHAT YOU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Proof — not a green checkmark.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4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app.selket.io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00" cy="73152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Signed PDF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Every drill produces a tamper-evident PDF with an Ed25519 signature, 7-year retention, and an audit-ready hash chain. Hand it to your auditor.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7472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FOR SOC 2 /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5486400" cy="73152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JSON API + signed webhooks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6974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Pull drill results into your status page, your reliability dashboard, your data-warehouse. Webhooks signed so downstream can verify origin.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47472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48386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FOR ENGINEERING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519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5486400" cy="73152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Plain-SQL invariants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120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Define checks in the language your team already writes — row counts, FK integrity, freshness windows, anything queryable. No new DSL.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98932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99846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FOR YOUR DBAS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2519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251960"/>
            <a:ext cx="5486400" cy="73152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6177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Slack / email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21208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Failures page the on-call. Successes get a one-line confirmation in the team channel. No noisy dashboards, no missed failures.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598932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599846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FOR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1717A"/>
                </a:solidFill>
                <a:latin typeface="Calibri"/>
              </a:rPr>
              <a:t>Postgres supported today  ·  MySQL and SQL Server next  ·  Self-hosted runners on Enterprise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B91C1C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Pricing by how often you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5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app.selket.io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FREE FOR 14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Calibri"/>
              </a:rPr>
              <a:t>Daily drills, full access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databases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team seats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Community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Standard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$99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2743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/mo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DRILL FREQUENCY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Calibri"/>
              </a:rPr>
              <a:t>Weekly</a:t>
            </a:r>
          </a:p>
        </p:txBody>
      </p:sp>
      <p:sp>
        <p:nvSpPr>
          <p:cNvPr id="32" name="Oval 31"/>
          <p:cNvSpPr/>
          <p:nvPr/>
        </p:nvSpPr>
        <p:spPr>
          <a:xfrm>
            <a:off x="461772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databases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team seats</a:t>
            </a:r>
          </a:p>
        </p:txBody>
      </p:sp>
      <p:sp>
        <p:nvSpPr>
          <p:cNvPr id="36" name="Oval 35"/>
          <p:cNvSpPr/>
          <p:nvPr/>
        </p:nvSpPr>
        <p:spPr>
          <a:xfrm>
            <a:off x="461772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38" name="Oval 37"/>
          <p:cNvSpPr/>
          <p:nvPr/>
        </p:nvSpPr>
        <p:spPr>
          <a:xfrm>
            <a:off x="461772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40" name="Oval 39"/>
          <p:cNvSpPr/>
          <p:nvPr/>
        </p:nvSpPr>
        <p:spPr>
          <a:xfrm>
            <a:off x="461772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 · Slack alerts</a:t>
            </a:r>
          </a:p>
        </p:txBody>
      </p:sp>
      <p:sp>
        <p:nvSpPr>
          <p:cNvPr id="42" name="Oval 41"/>
          <p:cNvSpPr/>
          <p:nvPr/>
        </p:nvSpPr>
        <p:spPr>
          <a:xfrm>
            <a:off x="461772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Email support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AB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686800" y="16916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0" y="1709928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7F1D1D"/>
                </a:solidFill>
                <a:latin typeface="Calibri"/>
              </a:rPr>
              <a:t>MOST POPULAR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VIP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$299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743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/mo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DRILL FREQUENCY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Calibri"/>
              </a:rPr>
              <a:t>Daily</a:t>
            </a:r>
          </a:p>
        </p:txBody>
      </p:sp>
      <p:sp>
        <p:nvSpPr>
          <p:cNvPr id="53" name="Oval 52"/>
          <p:cNvSpPr/>
          <p:nvPr/>
        </p:nvSpPr>
        <p:spPr>
          <a:xfrm>
            <a:off x="841248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Unlimited databases</a:t>
            </a:r>
          </a:p>
        </p:txBody>
      </p:sp>
      <p:sp>
        <p:nvSpPr>
          <p:cNvPr id="55" name="Oval 54"/>
          <p:cNvSpPr/>
          <p:nvPr/>
        </p:nvSpPr>
        <p:spPr>
          <a:xfrm>
            <a:off x="841248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Unlimited team seats</a:t>
            </a:r>
          </a:p>
        </p:txBody>
      </p:sp>
      <p:sp>
        <p:nvSpPr>
          <p:cNvPr id="57" name="Oval 56"/>
          <p:cNvSpPr/>
          <p:nvPr/>
        </p:nvSpPr>
        <p:spPr>
          <a:xfrm>
            <a:off x="841248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59" name="Oval 58"/>
          <p:cNvSpPr/>
          <p:nvPr/>
        </p:nvSpPr>
        <p:spPr>
          <a:xfrm>
            <a:off x="841248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61" name="Oval 60"/>
          <p:cNvSpPr/>
          <p:nvPr/>
        </p:nvSpPr>
        <p:spPr>
          <a:xfrm>
            <a:off x="841248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6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 · Slack</a:t>
            </a:r>
          </a:p>
        </p:txBody>
      </p:sp>
      <p:sp>
        <p:nvSpPr>
          <p:cNvPr id="63" name="Oval 62"/>
          <p:cNvSpPr/>
          <p:nvPr/>
        </p:nvSpPr>
        <p:spPr>
          <a:xfrm>
            <a:off x="841248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SSO/SAML · Priority support · SLA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1717A"/>
                </a:solidFill>
                <a:latin typeface="Calibri"/>
              </a:rPr>
              <a:t>Enterprise: SOC 2 docs, custom retention, self-hosted runners in your VPC — contact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DE047"/>
                </a:solidFill>
                <a:latin typeface="Calibri"/>
              </a:rPr>
              <a:t>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Your first signed PDF
in under 15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0896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991B1B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924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7F1D1D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Sign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EE2E2"/>
                </a:solidFill>
                <a:latin typeface="Calibri"/>
              </a:rPr>
              <a:t>Email + password. No card. 14-day free trial.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10896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991B1B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3383280"/>
            <a:ext cx="502920" cy="502920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3924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7F1D1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Connect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38912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EE2E2"/>
                </a:solidFill>
                <a:latin typeface="Calibri"/>
              </a:rPr>
              <a:t>Point us at your S3 / GCS / R2 dump location.
Read-only access is enough.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10896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991B1B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3383280"/>
            <a:ext cx="502920" cy="502920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3924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7F1D1D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023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See the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389120"/>
            <a:ext cx="2926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EE2E2"/>
                </a:solidFill>
                <a:latin typeface="Calibri"/>
              </a:rPr>
              <a:t>Run your first drill on demand. Download the
signed evidence in minutes.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669280"/>
            <a:ext cx="6400800" cy="640080"/>
          </a:xfrm>
          <a:prstGeom prst="roundRect">
            <a:avLst>
              <a:gd name="adj" fmla="val 35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78424"/>
            <a:ext cx="6400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7F1D1D"/>
                </a:solidFill>
                <a:latin typeface="Calibri"/>
              </a:rPr>
              <a:t>→  app.selket.io/signup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77900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EE2E2"/>
                </a:solidFill>
                <a:latin typeface="Calibri"/>
              </a:rPr>
              <a:t>Questions?  hello@selket.io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