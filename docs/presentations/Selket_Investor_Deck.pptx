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21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778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83C5D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914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SELKET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D6E0EE"/>
                </a:solidFill>
                <a:latin typeface="Calibri"/>
              </a:rPr>
              <a:t>●  Pre-launch · Code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Backup verification
you can prove.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D6E0EE"/>
                </a:solidFill>
                <a:latin typeface="Calibri"/>
              </a:rPr>
              <a:t>A B2B SaaS that drills your backups every day and signs the result —
so a broken backup shows up in a report, not an outage.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4A0C6"/>
                </a:solidFill>
                <a:latin typeface="Calibri"/>
              </a:rPr>
              <a:t>Investor brief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Backups fail silently — you find out during the outage.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SELKET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" cy="2011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1717A"/>
                </a:solidFill>
                <a:latin typeface="Calibri"/>
              </a:rPr>
              <a:t>RESTORES THAT 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B91C1C"/>
                </a:solidFill>
                <a:latin typeface="Calibri"/>
              </a:rPr>
              <a:t>~1 in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on first attempt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54864" cy="2011680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1717A"/>
                </a:solidFill>
                <a:latin typeface="Calibri"/>
              </a:rPr>
              <a:t>DOWNTIME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488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8181B"/>
                </a:solidFill>
                <a:latin typeface="Calibri"/>
              </a:rPr>
              <a:t>$5,600 /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63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Gartner industry average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5448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554480"/>
            <a:ext cx="54864" cy="2011680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1717A"/>
                </a:solidFill>
                <a:latin typeface="Calibri"/>
              </a:rPr>
              <a:t>TEAMS TESTING WEEKLY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8181B"/>
                </a:solidFill>
                <a:latin typeface="Calibri"/>
              </a:rPr>
              <a:t>&lt; 1 in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63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most test annually or never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04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40480"/>
            <a:ext cx="54864" cy="2194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233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Calibri"/>
              </a:rPr>
              <a:t>WHY THIS HAPPENS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34340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F3F46"/>
                </a:solidFill>
                <a:latin typeface="Calibri"/>
              </a:rPr>
              <a:t>Backup software reports "success" the moment the bytes are written. It does not verify
the bytes can be restored into a working database. Schema drift, corrupted blocks, missing
WAL segments, key-rotation gone wrong — invisible until restore time. The first real
restore most teams ever do is during the outage. That is when they discover the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A drill is a controlled restore — daily, automated, signed.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SELKET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" cy="1097280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Selket pulls your latest backup into a clean sandbox, runs your assertions, and produces a
cryptographically signed PDF. Run it every day. Catch the broken backup on a Tuesday.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1845807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429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56432"/>
            <a:ext cx="97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Fetch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40"/>
            <a:ext cx="14800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Read the latest
dump from S3 / GCS / etc.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40751" y="3794760"/>
            <a:ext cx="320040" cy="27432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7095" y="3200400"/>
            <a:ext cx="1845807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81415" y="3429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81415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4335" y="3456432"/>
            <a:ext cx="97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Restore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1415" y="3977640"/>
            <a:ext cx="14800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Load it into a fresh,
isolated Postgres.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99207" y="3794760"/>
            <a:ext cx="320040" cy="27432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65551" y="3200400"/>
            <a:ext cx="1845807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39871" y="3429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39871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2791" y="3456432"/>
            <a:ext cx="97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Assert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9871" y="3977640"/>
            <a:ext cx="14800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Run your SQL checks:
rows, schema, freshness.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457663" y="3794760"/>
            <a:ext cx="320040" cy="27432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24007" y="3200400"/>
            <a:ext cx="1845807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98327" y="3429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8327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1247" y="3456432"/>
            <a:ext cx="97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8327" y="3977640"/>
            <a:ext cx="14800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Produce an Ed25519-
signed PDF report.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916119" y="3794760"/>
            <a:ext cx="320040" cy="27432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382463" y="3200400"/>
            <a:ext cx="1845807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656783" y="3429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6783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9703" y="3456432"/>
            <a:ext cx="97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Tear 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6783" y="3977640"/>
            <a:ext cx="14800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Destroy the sandbox.
Alert on any red.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2064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2578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47857"/>
                </a:solidFill>
                <a:latin typeface="Calibri"/>
              </a:rPr>
              <a:t>THE OUTCOME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3212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"We have backups" becomes "we have signed proof, from this morning, that we can restore."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From signup to first signed PDF in 15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SELKET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32783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20240"/>
            <a:ext cx="14591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Sign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40280"/>
            <a:ext cx="1459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F5E8D"/>
                </a:solidFill>
                <a:latin typeface="Calibri"/>
              </a:rPr>
              <a:t>~ 2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87063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Email + password.
The 14-day free trial starts automatically.
Stripe customer record created in the background.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13633" y="2651760"/>
            <a:ext cx="320040" cy="32004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0833" y="1691640"/>
            <a:ext cx="232783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99433" y="19202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9433" y="19202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8073" y="1920240"/>
            <a:ext cx="14591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Connect 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8073" y="2240280"/>
            <a:ext cx="1459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F5E8D"/>
                </a:solidFill>
                <a:latin typeface="Calibri"/>
              </a:rPr>
              <a:t>~ 3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5153" y="2697480"/>
            <a:ext cx="187063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Click "Connect AWS" in the dashboard.
A pre-filled CloudFormation template opens
in the customer's AWS console — they
click "Create stack". No keys to copy.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35827" y="2651760"/>
            <a:ext cx="320040" cy="32004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93027" y="1691640"/>
            <a:ext cx="232783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21627" y="19202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1627" y="19202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0267" y="1920240"/>
            <a:ext cx="14591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Define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0267" y="2240280"/>
            <a:ext cx="1459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F5E8D"/>
                </a:solidFill>
                <a:latin typeface="Calibri"/>
              </a:rPr>
              <a:t>~ 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347" y="2697480"/>
            <a:ext cx="187063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Pick from SQL assertion templates —
row-count floors, freshness windows,
NOT NULL checks. Set a daily schedule.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58021" y="2651760"/>
            <a:ext cx="320040" cy="32004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15221" y="1691640"/>
            <a:ext cx="232783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43821" y="19202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3821" y="19202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2461" y="1920240"/>
            <a:ext cx="14591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First drill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92461" y="2240280"/>
            <a:ext cx="1459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F5E8D"/>
                </a:solidFill>
                <a:latin typeface="Calibri"/>
              </a:rPr>
              <a:t>~ 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9541" y="2697480"/>
            <a:ext cx="187063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Runs while you watch.
A signed PDF lands in the evidence vault.
That moment IS the sales close.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29768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4348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FIRST 10 DESIGN PARTNERS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709160"/>
            <a:ext cx="10607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15-minute white-glove Zoom — you screen-share through the CloudFormation step. The first signed PDF lands while you're still on the call: that moment IS the sales close.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48640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62356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47857"/>
                </a:solidFill>
                <a:latin typeface="Calibri"/>
              </a:rPr>
              <a:t>WHAT THE CUSTOMER'S SECURITY TEAM SEES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8181B"/>
                </a:solidFill>
                <a:latin typeface="Calibri"/>
              </a:rPr>
              <a:t>Same pattern as Datadog, Snowflake, Vanta, Drata: a read-only IAM role scoped to one bucket. No agent install. No production-DB access. Revocable in one click.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What we have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SELKET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603504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160020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600200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" y="1600200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57276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onsolas"/>
              </a:rPr>
              <a:t>app.selket.io/drills/a1f9c2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031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production-primary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774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Daily drill  ·  pg_dump -Fc  ·  4.2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214884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17627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47857"/>
                </a:solidFill>
                <a:latin typeface="Calibri"/>
              </a:rPr>
              <a:t>● passed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880360"/>
            <a:ext cx="1289304" cy="8686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999232"/>
            <a:ext cx="11064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Calibri"/>
              </a:rPr>
              <a:t>RESTORE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246120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2m 14s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21992" y="2880360"/>
            <a:ext cx="1289304" cy="8686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9152" y="2999232"/>
            <a:ext cx="11064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Calibri"/>
              </a:rPr>
              <a:t>ROWS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9152" y="3246120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4.2M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21024" y="2880360"/>
            <a:ext cx="1289304" cy="8686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58184" y="2999232"/>
            <a:ext cx="11064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Calibri"/>
              </a:rPr>
              <a:t>ASSERTIONS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58184" y="3246120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6 / 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0056" y="2880360"/>
            <a:ext cx="1289304" cy="8686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2999232"/>
            <a:ext cx="11064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Calibri"/>
              </a:rP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7216" y="3246120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Signed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provision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8308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fetch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restore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0332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assert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report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2356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356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teardown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526280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461772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71717A"/>
                </a:solidFill>
                <a:latin typeface="Consolas"/>
              </a:rPr>
              <a:t>SIGNED EVIDENCE  ·  ed25519:9f2c4b…a17b  ·  valid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8920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Encrypted at rest · 7-year retention · tamper-evident chain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14630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3C5D"/>
                </a:solidFill>
                <a:latin typeface="Calibri"/>
              </a:rPr>
              <a:t>CAPABILITIES SHIPPED</a:t>
            </a:r>
          </a:p>
        </p:txBody>
      </p:sp>
      <p:sp>
        <p:nvSpPr>
          <p:cNvPr id="45" name="Oval 44"/>
          <p:cNvSpPr/>
          <p:nvPr/>
        </p:nvSpPr>
        <p:spPr>
          <a:xfrm>
            <a:off x="6858000" y="194767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9168" y="187451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Connector library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213055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S3, GCS, Azure Blob, R2, local, SFTP. Postgres first.</a:t>
            </a:r>
          </a:p>
        </p:txBody>
      </p:sp>
      <p:sp>
        <p:nvSpPr>
          <p:cNvPr id="48" name="Oval 47"/>
          <p:cNvSpPr/>
          <p:nvPr/>
        </p:nvSpPr>
        <p:spPr>
          <a:xfrm>
            <a:off x="6858000" y="249631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9168" y="242315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Isolated restore runner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59168" y="267919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Ephemeral sandbox per drill. Zero production touch.</a:t>
            </a:r>
          </a:p>
        </p:txBody>
      </p:sp>
      <p:sp>
        <p:nvSpPr>
          <p:cNvPr id="51" name="Oval 50"/>
          <p:cNvSpPr/>
          <p:nvPr/>
        </p:nvSpPr>
        <p:spPr>
          <a:xfrm>
            <a:off x="6858000" y="304495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59168" y="297179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Assertion 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9168" y="322783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Plain SQL checks: rows, schema, freshness, invariants.</a:t>
            </a:r>
          </a:p>
        </p:txBody>
      </p:sp>
      <p:sp>
        <p:nvSpPr>
          <p:cNvPr id="54" name="Oval 53"/>
          <p:cNvSpPr/>
          <p:nvPr/>
        </p:nvSpPr>
        <p:spPr>
          <a:xfrm>
            <a:off x="6858000" y="359359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59168" y="352043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Evidence vault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59168" y="377647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Ed25519-signed PDFs, AES-GCM encrypted, 7-year retention.</a:t>
            </a:r>
          </a:p>
        </p:txBody>
      </p:sp>
      <p:sp>
        <p:nvSpPr>
          <p:cNvPr id="57" name="Oval 56"/>
          <p:cNvSpPr/>
          <p:nvPr/>
        </p:nvSpPr>
        <p:spPr>
          <a:xfrm>
            <a:off x="6858000" y="414223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59168" y="406907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Scheduling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9168" y="432511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Cron cadences per database + on-demand drills.</a:t>
            </a:r>
          </a:p>
        </p:txBody>
      </p:sp>
      <p:sp>
        <p:nvSpPr>
          <p:cNvPr id="60" name="Oval 59"/>
          <p:cNvSpPr/>
          <p:nvPr/>
        </p:nvSpPr>
        <p:spPr>
          <a:xfrm>
            <a:off x="6858000" y="469087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59168" y="461771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Failure alerts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59168" y="487375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Email, Slack, signed webhooks. Pages only on real signal.</a:t>
            </a:r>
          </a:p>
        </p:txBody>
      </p:sp>
      <p:sp>
        <p:nvSpPr>
          <p:cNvPr id="63" name="Oval 62"/>
          <p:cNvSpPr/>
          <p:nvPr/>
        </p:nvSpPr>
        <p:spPr>
          <a:xfrm>
            <a:off x="6858000" y="523951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59168" y="516635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Audit-ready reports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59168" y="542239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Per-DB history, pass-rate trends, exportable evidence packs.</a:t>
            </a:r>
          </a:p>
        </p:txBody>
      </p:sp>
      <p:sp>
        <p:nvSpPr>
          <p:cNvPr id="66" name="Oval 65"/>
          <p:cNvSpPr/>
          <p:nvPr/>
        </p:nvSpPr>
        <p:spPr>
          <a:xfrm>
            <a:off x="6858000" y="578815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59168" y="571499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JSON API &amp; multi-tenant SaaS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59168" y="597103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Versioned API, billing, MFA, RBAC, audit log.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A failed drill vs a successful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SELKET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53212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53212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62763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62763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162763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60020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onsolas"/>
              </a:rPr>
              <a:t>app.selket.io/drills/...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574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production-primary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317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Daily drill  ·  pg_dump -Fc  ·  4.2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2057400"/>
            <a:ext cx="1051560" cy="32004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084832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Calibri"/>
              </a:rPr>
              <a:t>● failed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RESTORE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Calibri"/>
              </a:rPr>
              <a:t>14m 02s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9169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8313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ROWS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313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91C1C"/>
                </a:solidFill>
                <a:latin typeface="Calibri"/>
              </a:rPr>
              <a:t>3.8M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042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186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ASSERTIONS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186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91C1C"/>
                </a:solidFill>
                <a:latin typeface="Calibri"/>
              </a:rPr>
              <a:t>4 / 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2915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059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059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Signed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provision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4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9164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fetch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restore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900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B91C1C"/>
                </a:solidFill>
                <a:latin typeface="Calibri"/>
              </a:rPr>
              <a:t>✗ assert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report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6636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636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teardown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206240"/>
            <a:ext cx="4983480" cy="16459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431596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B91C1C"/>
                </a:solidFill>
                <a:latin typeface="Calibri"/>
              </a:rPr>
              <a:t>FAILED ASSERTIONS  ·  ALERTED 04:11 UTC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59028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orders.created_at freshness — latest row is 5d 11h old (max 26h)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4846320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payments.amount — 421 NULLs in a NOT NULL column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102352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Paged oncall@yours.co and #ops Slack — broken backup, before the outage.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1508760"/>
            <a:ext cx="553212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1508760"/>
            <a:ext cx="553212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55080" y="162763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37960" y="162763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0840" y="162763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60" y="160020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onsolas"/>
              </a:rPr>
              <a:t>app.selket.io/drills/...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20574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production-primary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23317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Daily drill  ·  pg_dump -Fc  ·  4.2 GB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69880" y="2057400"/>
            <a:ext cx="1051560" cy="3200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69880" y="2084832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47857"/>
                </a:solidFill>
                <a:latin typeface="Calibri"/>
              </a:rPr>
              <a:t>● passed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9224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RESTORE 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47857"/>
                </a:solidFill>
                <a:latin typeface="Calibri"/>
              </a:rPr>
              <a:t>2m 14s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6097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5241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ROWS VERIFIED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5241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4.2M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2970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2114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ASSERTIONS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2114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47857"/>
                </a:solidFill>
                <a:latin typeface="Calibri"/>
              </a:rPr>
              <a:t>6 / 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29843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8987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8987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Signed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9224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9224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provision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6092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6092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fetch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2960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960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restore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09828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9828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assert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6696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6696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report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83564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83564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teardown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92240" y="4206240"/>
            <a:ext cx="4983480" cy="164592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29400" y="431596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47857"/>
                </a:solidFill>
                <a:latin typeface="Calibri"/>
              </a:rPr>
              <a:t>ALL 6 ASSERTIONS PASSED  ·  SIGNED AND ARCHIVED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29400" y="459028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Restore time within SLO. Fresh data within window.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29400" y="4846320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Schema match. Row counts within tolerance.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29400" y="5102352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Ed25519-signed PDF in the evidence vault. No human in the loop.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1722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81B"/>
                </a:solidFill>
                <a:latin typeface="Calibri"/>
              </a:rPr>
              <a:t>The difference: one of these gets fixed Tuesday morning. The other becomes an incident.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Every regulated B2B company is a buyer.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SELKET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611880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Compliance-driven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SOC 2, ISO 27001, HIPAA, PCI all require restore testing.
The auditor wants signed proof — not a policy doc.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3C5D"/>
                </a:solidFill>
                <a:latin typeface="Calibri"/>
              </a:rPr>
              <a:t>PRIMARY BEACHHEAD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5079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Series A → C SaaS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4165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434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Fintech, healthtech, legaltech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78231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20-500 employees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554480"/>
            <a:ext cx="361188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554480"/>
            <a:ext cx="3611880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8288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Trauma-driven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3317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Teams that have lived through a failed restore (or watched
a peer live through one) buy fast and pay full price.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3C5D"/>
                </a:solidFill>
                <a:latin typeface="Calibri"/>
              </a:rPr>
              <a:t>WORD-OF-MOUTH ENGINE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405079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39776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Anyone who lost data</a:t>
            </a:r>
          </a:p>
        </p:txBody>
      </p:sp>
      <p:sp>
        <p:nvSpPr>
          <p:cNvPr id="25" name="Oval 24"/>
          <p:cNvSpPr/>
          <p:nvPr/>
        </p:nvSpPr>
        <p:spPr>
          <a:xfrm>
            <a:off x="4617720" y="44165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43434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Anyone whose CTO did</a:t>
            </a:r>
          </a:p>
        </p:txBody>
      </p:sp>
      <p:sp>
        <p:nvSpPr>
          <p:cNvPr id="27" name="Oval 26"/>
          <p:cNvSpPr/>
          <p:nvPr/>
        </p:nvSpPr>
        <p:spPr>
          <a:xfrm>
            <a:off x="4617720" y="478231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47091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Sleep-driven purchase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554480"/>
            <a:ext cx="361188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1554480"/>
            <a:ext cx="3611880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18288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Devops-mature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3317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Teams that already run chaos drills and game-days but
have never automated backup verification.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3C5D"/>
                </a:solidFill>
                <a:latin typeface="Calibri"/>
              </a:rPr>
              <a:t>INBOUND VIA CONTENT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405079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39776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Strong infra culture</a:t>
            </a:r>
          </a:p>
        </p:txBody>
      </p:sp>
      <p:sp>
        <p:nvSpPr>
          <p:cNvPr id="36" name="Oval 35"/>
          <p:cNvSpPr/>
          <p:nvPr/>
        </p:nvSpPr>
        <p:spPr>
          <a:xfrm>
            <a:off x="8412480" y="44165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43434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Already pay for Datadog tier</a:t>
            </a:r>
          </a:p>
        </p:txBody>
      </p:sp>
      <p:sp>
        <p:nvSpPr>
          <p:cNvPr id="38" name="Oval 37"/>
          <p:cNvSpPr/>
          <p:nvPr/>
        </p:nvSpPr>
        <p:spPr>
          <a:xfrm>
            <a:off x="8412480" y="478231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47091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Self-serve onboarding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0350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Bottom-up via SOC 2 prep → expansion into the rest of the company. Land at $99, expand to $299, retain on the audit trail.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Pricing by how often you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SELKET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8181B"/>
                </a:solidFill>
                <a:latin typeface="Calibri"/>
              </a:rPr>
              <a:t>Free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91840"/>
            <a:ext cx="3108960" cy="5943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83C5D"/>
                </a:solidFill>
                <a:latin typeface="Calibri"/>
              </a:rPr>
              <a:t>FREE FOR 14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478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1304A"/>
                </a:solidFill>
                <a:latin typeface="Calibri"/>
              </a:rPr>
              <a:t>Daily drills, full access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422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databases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6227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team seats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8231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Signed PDF 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10235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7-year retention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42239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API &amp; webhooks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7424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669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Community 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182880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92040" y="16916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1709928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MOST POPULAR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103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Starter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25146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8181B"/>
                </a:solidFill>
                <a:latin typeface="Calibri"/>
              </a:rPr>
              <a:t>$99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743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/mo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3291840"/>
            <a:ext cx="3108960" cy="5943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3337560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83C5D"/>
                </a:solidFill>
                <a:latin typeface="Calibri"/>
              </a:rPr>
              <a:t>DRILL FREQUENCY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5478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1304A"/>
                </a:solidFill>
                <a:latin typeface="Calibri"/>
              </a:rPr>
              <a:t>Daily</a:t>
            </a:r>
          </a:p>
        </p:txBody>
      </p:sp>
      <p:sp>
        <p:nvSpPr>
          <p:cNvPr id="34" name="Oval 33"/>
          <p:cNvSpPr/>
          <p:nvPr/>
        </p:nvSpPr>
        <p:spPr>
          <a:xfrm>
            <a:off x="4617720" y="41422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4069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databases</a:t>
            </a:r>
          </a:p>
        </p:txBody>
      </p:sp>
      <p:sp>
        <p:nvSpPr>
          <p:cNvPr id="36" name="Oval 35"/>
          <p:cNvSpPr/>
          <p:nvPr/>
        </p:nvSpPr>
        <p:spPr>
          <a:xfrm>
            <a:off x="4617720" y="446227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4389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team seats</a:t>
            </a:r>
          </a:p>
        </p:txBody>
      </p:sp>
      <p:sp>
        <p:nvSpPr>
          <p:cNvPr id="38" name="Oval 37"/>
          <p:cNvSpPr/>
          <p:nvPr/>
        </p:nvSpPr>
        <p:spPr>
          <a:xfrm>
            <a:off x="4617720" y="478231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600" y="4709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Signed PDF evidence</a:t>
            </a:r>
          </a:p>
        </p:txBody>
      </p:sp>
      <p:sp>
        <p:nvSpPr>
          <p:cNvPr id="40" name="Oval 39"/>
          <p:cNvSpPr/>
          <p:nvPr/>
        </p:nvSpPr>
        <p:spPr>
          <a:xfrm>
            <a:off x="4617720" y="510235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5029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7-year retention</a:t>
            </a:r>
          </a:p>
        </p:txBody>
      </p:sp>
      <p:sp>
        <p:nvSpPr>
          <p:cNvPr id="42" name="Oval 41"/>
          <p:cNvSpPr/>
          <p:nvPr/>
        </p:nvSpPr>
        <p:spPr>
          <a:xfrm>
            <a:off x="4617720" y="542239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53492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API &amp; webhooks · Slack alerts</a:t>
            </a:r>
          </a:p>
        </p:txBody>
      </p:sp>
      <p:sp>
        <p:nvSpPr>
          <p:cNvPr id="44" name="Oval 43"/>
          <p:cNvSpPr/>
          <p:nvPr/>
        </p:nvSpPr>
        <p:spPr>
          <a:xfrm>
            <a:off x="4617720" y="57424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00600" y="5669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Email support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182880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2103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Pro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25146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8181B"/>
                </a:solidFill>
                <a:latin typeface="Calibri"/>
              </a:rPr>
              <a:t>$299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743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/mo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0" y="3291840"/>
            <a:ext cx="3108960" cy="5943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3337560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83C5D"/>
                </a:solidFill>
                <a:latin typeface="Calibri"/>
              </a:rPr>
              <a:t>DRILL FREQUENCY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35478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1304A"/>
                </a:solidFill>
                <a:latin typeface="Calibri"/>
              </a:rPr>
              <a:t>Hourly</a:t>
            </a:r>
          </a:p>
        </p:txBody>
      </p:sp>
      <p:sp>
        <p:nvSpPr>
          <p:cNvPr id="53" name="Oval 52"/>
          <p:cNvSpPr/>
          <p:nvPr/>
        </p:nvSpPr>
        <p:spPr>
          <a:xfrm>
            <a:off x="8412480" y="41422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0" y="4069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Unlimited databases</a:t>
            </a:r>
          </a:p>
        </p:txBody>
      </p:sp>
      <p:sp>
        <p:nvSpPr>
          <p:cNvPr id="55" name="Oval 54"/>
          <p:cNvSpPr/>
          <p:nvPr/>
        </p:nvSpPr>
        <p:spPr>
          <a:xfrm>
            <a:off x="8412480" y="446227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0" y="4389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Unlimited team seats</a:t>
            </a:r>
          </a:p>
        </p:txBody>
      </p:sp>
      <p:sp>
        <p:nvSpPr>
          <p:cNvPr id="57" name="Oval 56"/>
          <p:cNvSpPr/>
          <p:nvPr/>
        </p:nvSpPr>
        <p:spPr>
          <a:xfrm>
            <a:off x="8412480" y="478231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5360" y="4709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Signed PDF evidence</a:t>
            </a:r>
          </a:p>
        </p:txBody>
      </p:sp>
      <p:sp>
        <p:nvSpPr>
          <p:cNvPr id="59" name="Oval 58"/>
          <p:cNvSpPr/>
          <p:nvPr/>
        </p:nvSpPr>
        <p:spPr>
          <a:xfrm>
            <a:off x="8412480" y="510235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0" y="5029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7-year retention</a:t>
            </a:r>
          </a:p>
        </p:txBody>
      </p:sp>
      <p:sp>
        <p:nvSpPr>
          <p:cNvPr id="61" name="Oval 60"/>
          <p:cNvSpPr/>
          <p:nvPr/>
        </p:nvSpPr>
        <p:spPr>
          <a:xfrm>
            <a:off x="8412480" y="542239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5360" y="53492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API &amp; webhooks · Slack</a:t>
            </a:r>
          </a:p>
        </p:txBody>
      </p:sp>
      <p:sp>
        <p:nvSpPr>
          <p:cNvPr id="63" name="Oval 62"/>
          <p:cNvSpPr/>
          <p:nvPr/>
        </p:nvSpPr>
        <p:spPr>
          <a:xfrm>
            <a:off x="8412480" y="57424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0" y="5669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SSO/SAML · Priority support · SLA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1717A"/>
                </a:solidFill>
                <a:latin typeface="Calibri"/>
              </a:rPr>
              <a:t>Enterprise: SOC 2 docs, custom retention, self-hosted runner in your VPC — contact sales.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Where we stand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SELKET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47857"/>
                </a:solidFill>
                <a:latin typeface="Calibri"/>
              </a:rPr>
              <a:t>✓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47857"/>
                </a:solidFill>
                <a:latin typeface="Calibri"/>
              </a:rPr>
              <a:t>Product code-complete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47857"/>
                </a:solidFill>
                <a:latin typeface="Calibri"/>
              </a:rPr>
              <a:t>✓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47857"/>
                </a:solidFill>
                <a:latin typeface="Calibri"/>
              </a:rPr>
              <a:t>Deployment pipeline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691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83C5D"/>
                </a:solidFill>
                <a:latin typeface="Calibri"/>
              </a:rPr>
              <a:t>○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83C5D"/>
                </a:solidFill>
                <a:latin typeface="Calibri"/>
              </a:rPr>
              <a:t>Onboarding 5 design partners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88920"/>
            <a:ext cx="553212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88920"/>
            <a:ext cx="54864" cy="3657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SHIPPED — IN THE REPO TODAY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42900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Drill engine: fetch · restore · assert · sign · teardown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390448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81304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Multi-tenant SaaS: auth, MFA, RBAC, billing (Stripe), audit log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28853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19709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Evidence vault: Ed25519 signed PDFs, AES-GCM, 7-year retention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467258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581144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Versioned JSON API + signed webhooks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50566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96519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Fly.io deployment with auto-deploy on green CI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544068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34924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Persistent evidence storage, monitoring hooks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582472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7332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Pricing, signup, onboarding flows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620877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611733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Compliance-ready: SOC 2 evidence model, immutable audit trail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2788920"/>
            <a:ext cx="553212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2788920"/>
            <a:ext cx="54864" cy="3657600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3C5D"/>
                </a:solidFill>
                <a:latin typeface="Calibri"/>
              </a:rPr>
              <a:t>NEXT 90 DAYS</a:t>
            </a:r>
          </a:p>
        </p:txBody>
      </p:sp>
      <p:sp>
        <p:nvSpPr>
          <p:cNvPr id="38" name="Oval 37"/>
          <p:cNvSpPr/>
          <p:nvPr/>
        </p:nvSpPr>
        <p:spPr>
          <a:xfrm>
            <a:off x="6446520" y="3520440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42900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Onboard 5 design-partner customers</a:t>
            </a:r>
          </a:p>
        </p:txBody>
      </p:sp>
      <p:sp>
        <p:nvSpPr>
          <p:cNvPr id="40" name="Oval 39"/>
          <p:cNvSpPr/>
          <p:nvPr/>
        </p:nvSpPr>
        <p:spPr>
          <a:xfrm>
            <a:off x="6446520" y="3904488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381304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Drill real production Postgres dumps end-to-end</a:t>
            </a:r>
          </a:p>
        </p:txBody>
      </p:sp>
      <p:sp>
        <p:nvSpPr>
          <p:cNvPr id="42" name="Oval 41"/>
          <p:cNvSpPr/>
          <p:nvPr/>
        </p:nvSpPr>
        <p:spPr>
          <a:xfrm>
            <a:off x="6446520" y="4288536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419709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First $99 / $299 paid subscription via Stripe</a:t>
            </a:r>
          </a:p>
        </p:txBody>
      </p:sp>
      <p:sp>
        <p:nvSpPr>
          <p:cNvPr id="44" name="Oval 43"/>
          <p:cNvSpPr/>
          <p:nvPr/>
        </p:nvSpPr>
        <p:spPr>
          <a:xfrm>
            <a:off x="6446520" y="4672584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4581144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SOC 2 Type I evidence pack (using our own product)</a:t>
            </a:r>
          </a:p>
        </p:txBody>
      </p:sp>
      <p:sp>
        <p:nvSpPr>
          <p:cNvPr id="46" name="Oval 45"/>
          <p:cNvSpPr/>
          <p:nvPr/>
        </p:nvSpPr>
        <p:spPr>
          <a:xfrm>
            <a:off x="6446520" y="5056632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496519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Marketing site + docs (Astro)</a:t>
            </a:r>
          </a:p>
        </p:txBody>
      </p:sp>
      <p:sp>
        <p:nvSpPr>
          <p:cNvPr id="48" name="Oval 47"/>
          <p:cNvSpPr/>
          <p:nvPr/>
        </p:nvSpPr>
        <p:spPr>
          <a:xfrm>
            <a:off x="6446520" y="5440680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534924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Observability + first SLA</a:t>
            </a:r>
          </a:p>
        </p:txBody>
      </p:sp>
      <p:sp>
        <p:nvSpPr>
          <p:cNvPr id="50" name="Oval 49"/>
          <p:cNvSpPr/>
          <p:nvPr/>
        </p:nvSpPr>
        <p:spPr>
          <a:xfrm>
            <a:off x="6446520" y="5824728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9400" y="57332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MySQL &amp; SQL Server connectors</a:t>
            </a:r>
          </a:p>
        </p:txBody>
      </p:sp>
      <p:sp>
        <p:nvSpPr>
          <p:cNvPr id="52" name="Oval 51"/>
          <p:cNvSpPr/>
          <p:nvPr/>
        </p:nvSpPr>
        <p:spPr>
          <a:xfrm>
            <a:off x="6446520" y="6208776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9400" y="611733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Self-hosted runner option for enterprise pilots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The next 90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SELKET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– 30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651760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Fly.io production live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35808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443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Stripe + Postmark wired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419856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28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First 5 design partners onboarded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803904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124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Real drills running on real DBs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187952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965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Daily evidence PDFs delivered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155448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3400" y="155448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3F5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16642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30 – 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19202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Convert</a:t>
            </a:r>
          </a:p>
        </p:txBody>
      </p:sp>
      <p:sp>
        <p:nvSpPr>
          <p:cNvPr id="25" name="Oval 24"/>
          <p:cNvSpPr/>
          <p:nvPr/>
        </p:nvSpPr>
        <p:spPr>
          <a:xfrm>
            <a:off x="4617720" y="2651760"/>
            <a:ext cx="91440" cy="91440"/>
          </a:xfrm>
          <a:prstGeom prst="ellipse">
            <a:avLst/>
          </a:prstGeom>
          <a:solidFill>
            <a:srgbClr val="3F5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Design partners → paying ($99–$299)</a:t>
            </a:r>
          </a:p>
        </p:txBody>
      </p:sp>
      <p:sp>
        <p:nvSpPr>
          <p:cNvPr id="27" name="Oval 26"/>
          <p:cNvSpPr/>
          <p:nvPr/>
        </p:nvSpPr>
        <p:spPr>
          <a:xfrm>
            <a:off x="4617720" y="3035808"/>
            <a:ext cx="91440" cy="91440"/>
          </a:xfrm>
          <a:prstGeom prst="ellipse">
            <a:avLst/>
          </a:prstGeom>
          <a:solidFill>
            <a:srgbClr val="3F5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9443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First case study published</a:t>
            </a:r>
          </a:p>
        </p:txBody>
      </p:sp>
      <p:sp>
        <p:nvSpPr>
          <p:cNvPr id="29" name="Oval 28"/>
          <p:cNvSpPr/>
          <p:nvPr/>
        </p:nvSpPr>
        <p:spPr>
          <a:xfrm>
            <a:off x="4617720" y="3419856"/>
            <a:ext cx="91440" cy="91440"/>
          </a:xfrm>
          <a:prstGeom prst="ellipse">
            <a:avLst/>
          </a:prstGeom>
          <a:solidFill>
            <a:srgbClr val="3F5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3328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MySQL connector beta</a:t>
            </a:r>
          </a:p>
        </p:txBody>
      </p:sp>
      <p:sp>
        <p:nvSpPr>
          <p:cNvPr id="31" name="Oval 30"/>
          <p:cNvSpPr/>
          <p:nvPr/>
        </p:nvSpPr>
        <p:spPr>
          <a:xfrm>
            <a:off x="4617720" y="3803904"/>
            <a:ext cx="91440" cy="91440"/>
          </a:xfrm>
          <a:prstGeom prst="ellipse">
            <a:avLst/>
          </a:prstGeom>
          <a:solidFill>
            <a:srgbClr val="3F5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37124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Slack integration GA</a:t>
            </a:r>
          </a:p>
        </p:txBody>
      </p:sp>
      <p:sp>
        <p:nvSpPr>
          <p:cNvPr id="33" name="Oval 32"/>
          <p:cNvSpPr/>
          <p:nvPr/>
        </p:nvSpPr>
        <p:spPr>
          <a:xfrm>
            <a:off x="4617720" y="4187952"/>
            <a:ext cx="91440" cy="91440"/>
          </a:xfrm>
          <a:prstGeom prst="ellipse">
            <a:avLst/>
          </a:prstGeom>
          <a:solidFill>
            <a:srgbClr val="3F5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40965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SOC 2 Type I kickoff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155448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38160" y="155448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84A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16642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60 – 90 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19202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0" y="2651760"/>
            <a:ext cx="91440" cy="91440"/>
          </a:xfrm>
          <a:prstGeom prst="ellipse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10 paying customers</a:t>
            </a:r>
          </a:p>
        </p:txBody>
      </p:sp>
      <p:sp>
        <p:nvSpPr>
          <p:cNvPr id="41" name="Oval 40"/>
          <p:cNvSpPr/>
          <p:nvPr/>
        </p:nvSpPr>
        <p:spPr>
          <a:xfrm>
            <a:off x="8412480" y="3035808"/>
            <a:ext cx="91440" cy="91440"/>
          </a:xfrm>
          <a:prstGeom prst="ellipse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29443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Inbound from content + SEO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0" y="3419856"/>
            <a:ext cx="91440" cy="91440"/>
          </a:xfrm>
          <a:prstGeom prst="ellipse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3328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SQL Server connector beta</a:t>
            </a:r>
          </a:p>
        </p:txBody>
      </p:sp>
      <p:sp>
        <p:nvSpPr>
          <p:cNvPr id="45" name="Oval 44"/>
          <p:cNvSpPr/>
          <p:nvPr/>
        </p:nvSpPr>
        <p:spPr>
          <a:xfrm>
            <a:off x="8412480" y="3803904"/>
            <a:ext cx="91440" cy="91440"/>
          </a:xfrm>
          <a:prstGeom prst="ellipse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37124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First enterprise pilot</a:t>
            </a:r>
          </a:p>
        </p:txBody>
      </p:sp>
      <p:sp>
        <p:nvSpPr>
          <p:cNvPr id="47" name="Oval 46"/>
          <p:cNvSpPr/>
          <p:nvPr/>
        </p:nvSpPr>
        <p:spPr>
          <a:xfrm>
            <a:off x="8412480" y="4187952"/>
            <a:ext cx="91440" cy="91440"/>
          </a:xfrm>
          <a:prstGeom prst="ellipse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40965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First $1k MRR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21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4A0C6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Let’s build the proof layer
for every backup.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D6E0EE"/>
                </a:solidFill>
                <a:latin typeface="Calibri"/>
              </a:rPr>
              <a:t>Selket — backup verification you can prove.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120640"/>
            <a:ext cx="5943600" cy="1280160"/>
          </a:xfrm>
          <a:prstGeom prst="roundRect">
            <a:avLst>
              <a:gd name="adj" fmla="val 6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257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4A0C6"/>
                </a:solidFill>
                <a:latin typeface="Calibri"/>
              </a:rPr>
              <a:t>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5321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ianrocks62@gmail.com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97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D6E0EE"/>
                </a:solidFill>
                <a:latin typeface="Consolas"/>
              </a:rPr>
              <a:t>github.com/preshotcome/anything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