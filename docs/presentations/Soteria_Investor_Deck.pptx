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0"/>
            <a:ext cx="8076895" cy="6858000"/>
          </a:xfrm>
          <a:prstGeom prst="rect">
            <a:avLst/>
          </a:prstGeom>
          <a:solidFill>
            <a:srgbClr val="213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822960"/>
            <a:ext cx="548640" cy="5486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877824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283C5D"/>
                </a:solidFill>
                <a:latin typeface="Calibri"/>
              </a:rPr>
              <a:t>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9144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SOTERIA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77440"/>
            <a:ext cx="2377440" cy="320040"/>
          </a:xfrm>
          <a:prstGeom prst="roundRect">
            <a:avLst>
              <a:gd name="adj" fmla="val 50000"/>
            </a:avLst>
          </a:prstGeom>
          <a:solidFill>
            <a:srgbClr val="28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95728"/>
            <a:ext cx="23774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D6E0EE"/>
                </a:solidFill>
                <a:latin typeface="Calibri"/>
              </a:rPr>
              <a:t>●  Pre-launch · Code complete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8036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Backup verification
you can prove.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75488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D6E0EE"/>
                </a:solidFill>
                <a:latin typeface="Calibri"/>
              </a:rPr>
              <a:t>A B2B SaaS that drills your backups every day and signs the result —
so a broken backup shows up in a report, not an outage.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1264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4A0C6"/>
                </a:solidFill>
                <a:latin typeface="Calibri"/>
              </a:rPr>
              <a:t>Investor brief  · 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8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83C5D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8181B"/>
                </a:solidFill>
                <a:latin typeface="Calibri"/>
              </a:rPr>
              <a:t>Backups fail silently — you find out during the outage.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A1A1AA"/>
                </a:solidFill>
                <a:latin typeface="Calibri"/>
              </a:rPr>
              <a:t>2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A1A1AA"/>
                </a:solidFill>
                <a:latin typeface="Calibri"/>
              </a:rPr>
              <a:t>SOTERIA  ·  Backup verification you can prove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365760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54864" cy="201168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2880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71717A"/>
                </a:solidFill>
                <a:latin typeface="Calibri"/>
              </a:rPr>
              <a:t>RESTORES THAT FAIL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48840"/>
            <a:ext cx="3291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B91C1C"/>
                </a:solidFill>
                <a:latin typeface="Calibri"/>
              </a:rPr>
              <a:t>~1 in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6324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71717A"/>
                </a:solidFill>
                <a:latin typeface="Calibri"/>
              </a:rPr>
              <a:t>on first attempt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554480"/>
            <a:ext cx="365760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554480"/>
            <a:ext cx="54864" cy="2011680"/>
          </a:xfrm>
          <a:prstGeom prst="rect">
            <a:avLst/>
          </a:prstGeom>
          <a:solidFill>
            <a:srgbClr val="28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82880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71717A"/>
                </a:solidFill>
                <a:latin typeface="Calibri"/>
              </a:rPr>
              <a:t>DOWNTIME COST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148840"/>
            <a:ext cx="3291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18181B"/>
                </a:solidFill>
                <a:latin typeface="Calibri"/>
              </a:rPr>
              <a:t>$5,600 / 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06324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71717A"/>
                </a:solidFill>
                <a:latin typeface="Calibri"/>
              </a:rPr>
              <a:t>Gartner industry average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554480"/>
            <a:ext cx="365760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1554480"/>
            <a:ext cx="54864" cy="2011680"/>
          </a:xfrm>
          <a:prstGeom prst="rect">
            <a:avLst/>
          </a:prstGeom>
          <a:solidFill>
            <a:srgbClr val="28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182880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71717A"/>
                </a:solidFill>
                <a:latin typeface="Calibri"/>
              </a:rPr>
              <a:t>TEAMS TESTING WEEKLY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148840"/>
            <a:ext cx="3291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18181B"/>
                </a:solidFill>
                <a:latin typeface="Calibri"/>
              </a:rPr>
              <a:t>&lt; 1 in 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06324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71717A"/>
                </a:solidFill>
                <a:latin typeface="Calibri"/>
              </a:rPr>
              <a:t>most test annually or never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840480"/>
            <a:ext cx="11155680" cy="219456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3840480"/>
            <a:ext cx="54864" cy="219456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02336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B45309"/>
                </a:solidFill>
                <a:latin typeface="Calibri"/>
              </a:rPr>
              <a:t>WHY THIS HAPPENS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343400"/>
            <a:ext cx="106070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3F3F46"/>
                </a:solidFill>
                <a:latin typeface="Calibri"/>
              </a:rPr>
              <a:t>Backup software reports "success" the moment the bytes are written. It does not verify
the bytes can be restored into a working database. Schema drift, corrupted blocks, missing
WAL segments, key-rotation gone wrong — invisible until restore time. The first real
restore most teams ever do is during the outage. That is when they discover the gap.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8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83C5D"/>
                </a:solidFill>
                <a:latin typeface="Calibri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8181B"/>
                </a:solidFill>
                <a:latin typeface="Calibri"/>
              </a:rPr>
              <a:t>A drill is a controlled restore — daily, automated, signed.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A1A1AA"/>
                </a:solidFill>
                <a:latin typeface="Calibri"/>
              </a:rPr>
              <a:t>3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A1A1AA"/>
                </a:solidFill>
                <a:latin typeface="Calibri"/>
              </a:rPr>
              <a:t>SOTERIA  ·  Backup verification you can prove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11155680" cy="1097280"/>
          </a:xfrm>
          <a:prstGeom prst="roundRect">
            <a:avLst>
              <a:gd name="adj" fmla="val 5000"/>
            </a:avLst>
          </a:prstGeom>
          <a:solidFill>
            <a:srgbClr val="EEF2F8"/>
          </a:solidFill>
          <a:ln w="9525">
            <a:solidFill>
              <a:srgbClr val="D6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54864" cy="1097280"/>
          </a:xfrm>
          <a:prstGeom prst="rect">
            <a:avLst/>
          </a:prstGeom>
          <a:solidFill>
            <a:srgbClr val="28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91640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8181B"/>
                </a:solidFill>
                <a:latin typeface="Calibri"/>
              </a:rPr>
              <a:t>Soteria pulls your latest backup into a clean sandbox, runs your assertions, and produces a
cryptographically signed PDF. Run it every day. Catch the broken backup on a Tuesday.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00400"/>
            <a:ext cx="1845807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342900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28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42900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456432"/>
            <a:ext cx="9771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8181B"/>
                </a:solidFill>
                <a:latin typeface="Calibri"/>
              </a:rPr>
              <a:t>Fetch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977640"/>
            <a:ext cx="148004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Calibri"/>
              </a:rPr>
              <a:t>Read the latest
dump from S3 / GCS / etc.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540751" y="3794760"/>
            <a:ext cx="320040" cy="274320"/>
          </a:xfrm>
          <a:prstGeom prst="rightArrow">
            <a:avLst/>
          </a:prstGeom>
          <a:solidFill>
            <a:srgbClr val="84A0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007095" y="3200400"/>
            <a:ext cx="1845807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281415" y="342900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28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81415" y="342900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84335" y="3456432"/>
            <a:ext cx="9771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8181B"/>
                </a:solidFill>
                <a:latin typeface="Calibri"/>
              </a:rPr>
              <a:t>Restore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81415" y="3977640"/>
            <a:ext cx="148004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Calibri"/>
              </a:rPr>
              <a:t>Load it into a fresh,
isolated Postgres.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4999207" y="3794760"/>
            <a:ext cx="320040" cy="274320"/>
          </a:xfrm>
          <a:prstGeom prst="rightArrow">
            <a:avLst/>
          </a:prstGeom>
          <a:solidFill>
            <a:srgbClr val="84A0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65551" y="3200400"/>
            <a:ext cx="1845807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739871" y="342900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28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39871" y="342900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42791" y="3456432"/>
            <a:ext cx="9771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8181B"/>
                </a:solidFill>
                <a:latin typeface="Calibri"/>
              </a:rPr>
              <a:t>Assert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39871" y="3977640"/>
            <a:ext cx="148004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Calibri"/>
              </a:rPr>
              <a:t>Run your SQL checks:
rows, schema, freshness.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457663" y="3794760"/>
            <a:ext cx="320040" cy="274320"/>
          </a:xfrm>
          <a:prstGeom prst="rightArrow">
            <a:avLst/>
          </a:prstGeom>
          <a:solidFill>
            <a:srgbClr val="84A0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924007" y="3200400"/>
            <a:ext cx="1845807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198327" y="342900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28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98327" y="342900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01247" y="3456432"/>
            <a:ext cx="9771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8181B"/>
                </a:solidFill>
                <a:latin typeface="Calibri"/>
              </a:rPr>
              <a:t>Sign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98327" y="3977640"/>
            <a:ext cx="148004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Calibri"/>
              </a:rPr>
              <a:t>Produce an Ed25519-
signed PDF report.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9916119" y="3794760"/>
            <a:ext cx="320040" cy="274320"/>
          </a:xfrm>
          <a:prstGeom prst="rightArrow">
            <a:avLst/>
          </a:prstGeom>
          <a:solidFill>
            <a:srgbClr val="84A0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0382463" y="3200400"/>
            <a:ext cx="1845807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0656783" y="342900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28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656783" y="342900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59703" y="3456432"/>
            <a:ext cx="9771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8181B"/>
                </a:solidFill>
                <a:latin typeface="Calibri"/>
              </a:rPr>
              <a:t>Tear down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56783" y="3977640"/>
            <a:ext cx="148004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Calibri"/>
              </a:rPr>
              <a:t>Destroy the sandbox.
Alert on any red.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5120640"/>
            <a:ext cx="11155680" cy="91440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" y="52578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47857"/>
                </a:solidFill>
                <a:latin typeface="Calibri"/>
              </a:rPr>
              <a:t>THE OUTCOME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5532120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8181B"/>
                </a:solidFill>
                <a:latin typeface="Calibri"/>
              </a:rPr>
              <a:t>"We have backups" becomes "we have signed proof, from this morning, that we can restore."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8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83C5D"/>
                </a:solidFill>
                <a:latin typeface="Calibri"/>
              </a:rPr>
              <a:t>ONBOARDING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8181B"/>
                </a:solidFill>
                <a:latin typeface="Calibri"/>
              </a:rPr>
              <a:t>From signup to first signed PDF in 15 minutes.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A1A1AA"/>
                </a:solidFill>
                <a:latin typeface="Calibri"/>
              </a:rPr>
              <a:t>4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A1A1AA"/>
                </a:solidFill>
                <a:latin typeface="Calibri"/>
              </a:rPr>
              <a:t>SOTERIA  ·  Backup verification you can prove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2327833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1920240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28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920240"/>
            <a:ext cx="145915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8181B"/>
                </a:solidFill>
                <a:latin typeface="Calibri"/>
              </a:rPr>
              <a:t>Sign 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240280"/>
            <a:ext cx="145915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F5E8D"/>
                </a:solidFill>
                <a:latin typeface="Calibri"/>
              </a:rPr>
              <a:t>~ 2 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697480"/>
            <a:ext cx="187063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Calibri"/>
              </a:rPr>
              <a:t>Email + password.
The 14-day free trial starts automatically.
Stripe customer record created in the background.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013633" y="2651760"/>
            <a:ext cx="320040" cy="320040"/>
          </a:xfrm>
          <a:prstGeom prst="rightArrow">
            <a:avLst/>
          </a:prstGeom>
          <a:solidFill>
            <a:srgbClr val="84A0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70833" y="1691640"/>
            <a:ext cx="2327833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99433" y="1920240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28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99433" y="192024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48073" y="1920240"/>
            <a:ext cx="145915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8181B"/>
                </a:solidFill>
                <a:latin typeface="Calibri"/>
              </a:rPr>
              <a:t>Connect AWS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48073" y="2240280"/>
            <a:ext cx="145915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F5E8D"/>
                </a:solidFill>
                <a:latin typeface="Calibri"/>
              </a:rPr>
              <a:t>~ 3 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5153" y="2697480"/>
            <a:ext cx="187063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Calibri"/>
              </a:rPr>
              <a:t>Click "Connect AWS" in the dashboard.
A pre-filled CloudFormation template opens
in the customer's AWS console — they
click "Create stack". No keys to copy.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935827" y="2651760"/>
            <a:ext cx="320040" cy="320040"/>
          </a:xfrm>
          <a:prstGeom prst="rightArrow">
            <a:avLst/>
          </a:prstGeom>
          <a:solidFill>
            <a:srgbClr val="84A0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93027" y="1691640"/>
            <a:ext cx="2327833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621627" y="1920240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28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1627" y="192024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0267" y="1920240"/>
            <a:ext cx="145915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8181B"/>
                </a:solidFill>
                <a:latin typeface="Calibri"/>
              </a:rPr>
              <a:t>Define checks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0267" y="2240280"/>
            <a:ext cx="145915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F5E8D"/>
                </a:solidFill>
                <a:latin typeface="Calibri"/>
              </a:rPr>
              <a:t>~ 5 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67347" y="2697480"/>
            <a:ext cx="187063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Calibri"/>
              </a:rPr>
              <a:t>Pick from SQL assertion templates —
row-count floors, freshness windows,
NOT NULL checks. Set a daily schedule.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8858021" y="2651760"/>
            <a:ext cx="320040" cy="320040"/>
          </a:xfrm>
          <a:prstGeom prst="rightArrow">
            <a:avLst/>
          </a:prstGeom>
          <a:solidFill>
            <a:srgbClr val="84A0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315221" y="1691640"/>
            <a:ext cx="2327833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543821" y="1920240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28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43821" y="192024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92461" y="1920240"/>
            <a:ext cx="145915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8181B"/>
                </a:solidFill>
                <a:latin typeface="Calibri"/>
              </a:rPr>
              <a:t>First drill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92461" y="2240280"/>
            <a:ext cx="145915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3F5E8D"/>
                </a:solidFill>
                <a:latin typeface="Calibri"/>
              </a:rPr>
              <a:t>~ 5 min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89541" y="2697480"/>
            <a:ext cx="187063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Calibri"/>
              </a:rPr>
              <a:t>Runs while you watch.
A signed PDF lands in the evidence vault.
That moment IS the sales close.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4297680"/>
            <a:ext cx="11155680" cy="1051560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 w="9525">
            <a:solidFill>
              <a:srgbClr val="D6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443484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83C5D"/>
                </a:solidFill>
                <a:latin typeface="Calibri"/>
              </a:rPr>
              <a:t>FIRST 10 DESIGN PARTNERS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4709160"/>
            <a:ext cx="106070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3F3F46"/>
                </a:solidFill>
                <a:latin typeface="Calibri"/>
              </a:rPr>
              <a:t>15-minute white-glove Zoom — you screen-share through the CloudFormation step. The first signed PDF lands while you're still on the call: that moment IS the sales close.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5486400"/>
            <a:ext cx="11155680" cy="86868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562356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47857"/>
                </a:solidFill>
                <a:latin typeface="Calibri"/>
              </a:rPr>
              <a:t>WHAT THE CUSTOMER'S SECURITY TEAM SEES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585216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8181B"/>
                </a:solidFill>
                <a:latin typeface="Calibri"/>
              </a:rPr>
              <a:t>Same pattern as Datadog, Snowflake, Vanta, Drata: a read-only IAM role scoped to one bucket. No agent install. No production-DB access. Revocable in one click.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8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83C5D"/>
                </a:solidFill>
                <a:latin typeface="Calibri"/>
              </a:rPr>
              <a:t>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8181B"/>
                </a:solidFill>
                <a:latin typeface="Calibri"/>
              </a:rPr>
              <a:t>What we have built.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A1A1AA"/>
                </a:solidFill>
                <a:latin typeface="Calibri"/>
              </a:rPr>
              <a:t>5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A1A1AA"/>
                </a:solidFill>
                <a:latin typeface="Calibri"/>
              </a:rPr>
              <a:t>SOTERIA  ·  Backup verification you can prove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6035040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6035040" cy="4114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13232" y="1600200"/>
            <a:ext cx="118872" cy="11887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1600200"/>
            <a:ext cx="118872" cy="11887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15568" y="1600200"/>
            <a:ext cx="118872" cy="1188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20" y="1572768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A1A1AA"/>
                </a:solidFill>
                <a:latin typeface="Consolas"/>
              </a:rPr>
              <a:t>app.soteria.io/drills/a1f9c2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10312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8181B"/>
                </a:solidFill>
                <a:latin typeface="Calibri"/>
              </a:rPr>
              <a:t>production-primary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3774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Calibri"/>
              </a:rPr>
              <a:t>Daily drill  ·  pg_dump -Fc  ·  4.2 GB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94960" y="2148840"/>
            <a:ext cx="914400" cy="32004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94960" y="217627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47857"/>
                </a:solidFill>
                <a:latin typeface="Calibri"/>
              </a:rPr>
              <a:t>● passed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2880360"/>
            <a:ext cx="1289304" cy="86868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2999232"/>
            <a:ext cx="110642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71717A"/>
                </a:solidFill>
                <a:latin typeface="Calibri"/>
              </a:rPr>
              <a:t>RESTORE 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246120"/>
            <a:ext cx="11064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8181B"/>
                </a:solidFill>
                <a:latin typeface="Calibri"/>
              </a:rPr>
              <a:t>2m 14s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21992" y="2880360"/>
            <a:ext cx="1289304" cy="86868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59152" y="2999232"/>
            <a:ext cx="110642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71717A"/>
                </a:solidFill>
                <a:latin typeface="Calibri"/>
              </a:rPr>
              <a:t>ROWS VERIFIED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59152" y="3246120"/>
            <a:ext cx="11064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8181B"/>
                </a:solidFill>
                <a:latin typeface="Calibri"/>
              </a:rPr>
              <a:t>4.2M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21024" y="2880360"/>
            <a:ext cx="1289304" cy="86868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58184" y="2999232"/>
            <a:ext cx="110642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71717A"/>
                </a:solidFill>
                <a:latin typeface="Calibri"/>
              </a:rPr>
              <a:t>ASSERTIONS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58184" y="3246120"/>
            <a:ext cx="11064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8181B"/>
                </a:solidFill>
                <a:latin typeface="Calibri"/>
              </a:rPr>
              <a:t>6 / 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0056" y="2880360"/>
            <a:ext cx="1289304" cy="86868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57216" y="2999232"/>
            <a:ext cx="110642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71717A"/>
                </a:solidFill>
                <a:latin typeface="Calibri"/>
              </a:rPr>
              <a:t>EVIDENCE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57216" y="3246120"/>
            <a:ext cx="11064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8181B"/>
                </a:solidFill>
                <a:latin typeface="Calibri"/>
              </a:rPr>
              <a:t>Signed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397764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3995928"/>
            <a:ext cx="86868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047857"/>
                </a:solidFill>
                <a:latin typeface="Calibri"/>
              </a:rPr>
              <a:t>✓ provision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783080" y="397764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783080" y="3995928"/>
            <a:ext cx="86868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047857"/>
                </a:solidFill>
                <a:latin typeface="Calibri"/>
              </a:rPr>
              <a:t>✓ fetch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743200" y="397764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0" y="3995928"/>
            <a:ext cx="86868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047857"/>
                </a:solidFill>
                <a:latin typeface="Calibri"/>
              </a:rPr>
              <a:t>✓ restore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703320" y="397764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03320" y="3995928"/>
            <a:ext cx="86868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047857"/>
                </a:solidFill>
                <a:latin typeface="Calibri"/>
              </a:rPr>
              <a:t>✓ assert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663440" y="397764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63440" y="3995928"/>
            <a:ext cx="86868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047857"/>
                </a:solidFill>
                <a:latin typeface="Calibri"/>
              </a:rPr>
              <a:t>✓ report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23560" y="397764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23560" y="3995928"/>
            <a:ext cx="86868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047857"/>
                </a:solidFill>
                <a:latin typeface="Calibri"/>
              </a:rPr>
              <a:t>✓ teardown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22960" y="4526280"/>
            <a:ext cx="5486400" cy="868680"/>
          </a:xfrm>
          <a:prstGeom prst="roundRect">
            <a:avLst>
              <a:gd name="adj" fmla="val 6000"/>
            </a:avLst>
          </a:prstGeom>
          <a:solidFill>
            <a:srgbClr val="FAFAFA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60120" y="4617720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71717A"/>
                </a:solidFill>
                <a:latin typeface="Consolas"/>
              </a:rPr>
              <a:t>SIGNED EVIDENCE  ·  ed25519:9f2c4b…a17b  ·  valid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" y="4892040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Calibri"/>
              </a:rPr>
              <a:t>Encrypted at rest · 7-year retention · tamper-evident chain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146304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83C5D"/>
                </a:solidFill>
                <a:latin typeface="Calibri"/>
              </a:rPr>
              <a:t>CAPABILITIES SHIPPED</a:t>
            </a:r>
          </a:p>
        </p:txBody>
      </p:sp>
      <p:sp>
        <p:nvSpPr>
          <p:cNvPr id="45" name="Oval 44"/>
          <p:cNvSpPr/>
          <p:nvPr/>
        </p:nvSpPr>
        <p:spPr>
          <a:xfrm>
            <a:off x="6858000" y="1947671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059168" y="1874519"/>
            <a:ext cx="4645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8181B"/>
                </a:solidFill>
                <a:latin typeface="Calibri"/>
              </a:rPr>
              <a:t>Connector library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59168" y="2130551"/>
            <a:ext cx="4645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Calibri"/>
              </a:rPr>
              <a:t>S3, GCS, Azure Blob, R2, local, SFTP. Postgres first.</a:t>
            </a:r>
          </a:p>
        </p:txBody>
      </p:sp>
      <p:sp>
        <p:nvSpPr>
          <p:cNvPr id="48" name="Oval 47"/>
          <p:cNvSpPr/>
          <p:nvPr/>
        </p:nvSpPr>
        <p:spPr>
          <a:xfrm>
            <a:off x="6858000" y="2496311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059168" y="2423159"/>
            <a:ext cx="4645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8181B"/>
                </a:solidFill>
                <a:latin typeface="Calibri"/>
              </a:rPr>
              <a:t>Isolated restore runner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59168" y="2679191"/>
            <a:ext cx="4645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Calibri"/>
              </a:rPr>
              <a:t>Ephemeral sandbox per drill. Zero production touch.</a:t>
            </a:r>
          </a:p>
        </p:txBody>
      </p:sp>
      <p:sp>
        <p:nvSpPr>
          <p:cNvPr id="51" name="Oval 50"/>
          <p:cNvSpPr/>
          <p:nvPr/>
        </p:nvSpPr>
        <p:spPr>
          <a:xfrm>
            <a:off x="6858000" y="3044951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059168" y="2971799"/>
            <a:ext cx="4645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8181B"/>
                </a:solidFill>
                <a:latin typeface="Calibri"/>
              </a:rPr>
              <a:t>Assertion engine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59168" y="3227831"/>
            <a:ext cx="4645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Calibri"/>
              </a:rPr>
              <a:t>Plain SQL checks: rows, schema, freshness, invariants.</a:t>
            </a:r>
          </a:p>
        </p:txBody>
      </p:sp>
      <p:sp>
        <p:nvSpPr>
          <p:cNvPr id="54" name="Oval 53"/>
          <p:cNvSpPr/>
          <p:nvPr/>
        </p:nvSpPr>
        <p:spPr>
          <a:xfrm>
            <a:off x="6858000" y="3593591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059168" y="3520439"/>
            <a:ext cx="4645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8181B"/>
                </a:solidFill>
                <a:latin typeface="Calibri"/>
              </a:rPr>
              <a:t>Evidence vault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059168" y="3776471"/>
            <a:ext cx="4645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Calibri"/>
              </a:rPr>
              <a:t>Ed25519-signed PDFs, AES-GCM encrypted, 7-year retention.</a:t>
            </a:r>
          </a:p>
        </p:txBody>
      </p:sp>
      <p:sp>
        <p:nvSpPr>
          <p:cNvPr id="57" name="Oval 56"/>
          <p:cNvSpPr/>
          <p:nvPr/>
        </p:nvSpPr>
        <p:spPr>
          <a:xfrm>
            <a:off x="6858000" y="4142231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059168" y="4069079"/>
            <a:ext cx="4645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8181B"/>
                </a:solidFill>
                <a:latin typeface="Calibri"/>
              </a:rPr>
              <a:t>Scheduling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059168" y="4325111"/>
            <a:ext cx="4645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Calibri"/>
              </a:rPr>
              <a:t>Cron cadences per database + on-demand drills.</a:t>
            </a:r>
          </a:p>
        </p:txBody>
      </p:sp>
      <p:sp>
        <p:nvSpPr>
          <p:cNvPr id="60" name="Oval 59"/>
          <p:cNvSpPr/>
          <p:nvPr/>
        </p:nvSpPr>
        <p:spPr>
          <a:xfrm>
            <a:off x="6858000" y="4690871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059168" y="4617719"/>
            <a:ext cx="4645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8181B"/>
                </a:solidFill>
                <a:latin typeface="Calibri"/>
              </a:rPr>
              <a:t>Failure alerts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059168" y="4873751"/>
            <a:ext cx="4645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Calibri"/>
              </a:rPr>
              <a:t>Email, Slack, signed webhooks. Pages only on real signal.</a:t>
            </a:r>
          </a:p>
        </p:txBody>
      </p:sp>
      <p:sp>
        <p:nvSpPr>
          <p:cNvPr id="63" name="Oval 62"/>
          <p:cNvSpPr/>
          <p:nvPr/>
        </p:nvSpPr>
        <p:spPr>
          <a:xfrm>
            <a:off x="6858000" y="5239511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059168" y="5166359"/>
            <a:ext cx="4645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8181B"/>
                </a:solidFill>
                <a:latin typeface="Calibri"/>
              </a:rPr>
              <a:t>Audit-ready reports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059168" y="5422391"/>
            <a:ext cx="4645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Calibri"/>
              </a:rPr>
              <a:t>Per-DB history, pass-rate trends, exportable evidence packs.</a:t>
            </a:r>
          </a:p>
        </p:txBody>
      </p:sp>
      <p:sp>
        <p:nvSpPr>
          <p:cNvPr id="66" name="Oval 65"/>
          <p:cNvSpPr/>
          <p:nvPr/>
        </p:nvSpPr>
        <p:spPr>
          <a:xfrm>
            <a:off x="6858000" y="5788151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059168" y="5714999"/>
            <a:ext cx="4645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8181B"/>
                </a:solidFill>
                <a:latin typeface="Calibri"/>
              </a:rPr>
              <a:t>JSON API &amp; multi-tenant SaaS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059168" y="5971031"/>
            <a:ext cx="4645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Calibri"/>
              </a:rPr>
              <a:t>Versioned API, billing, MFA, RBAC, audit log.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8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83C5D"/>
                </a:solidFill>
                <a:latin typeface="Calibri"/>
              </a:rPr>
              <a:t>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8181B"/>
                </a:solidFill>
                <a:latin typeface="Calibri"/>
              </a:rPr>
              <a:t>A failed drill vs a successful 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A1A1AA"/>
                </a:solidFill>
                <a:latin typeface="Calibri"/>
              </a:rPr>
              <a:t>6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A1A1AA"/>
                </a:solidFill>
                <a:latin typeface="Calibri"/>
              </a:rPr>
              <a:t>SOTERIA  ·  Backup verification you can prove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08760"/>
            <a:ext cx="5532120" cy="4526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08760"/>
            <a:ext cx="5532120" cy="3657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1627632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68680" y="1627632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51560" y="1627632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5880" y="1600200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A1A1AA"/>
                </a:solidFill>
                <a:latin typeface="Consolas"/>
              </a:rPr>
              <a:t>app.soteria.io/drills/...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05740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8181B"/>
                </a:solidFill>
                <a:latin typeface="Calibri"/>
              </a:rPr>
              <a:t>production-primary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331720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71717A"/>
                </a:solidFill>
                <a:latin typeface="Calibri"/>
              </a:rPr>
              <a:t>Daily drill  ·  pg_dump -Fc  ·  4.2 GB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00600" y="2057400"/>
            <a:ext cx="1051560" cy="320040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00600" y="2084832"/>
            <a:ext cx="10515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B91C1C"/>
                </a:solidFill>
                <a:latin typeface="Calibri"/>
              </a:rPr>
              <a:t>● failed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2788920"/>
            <a:ext cx="1177290" cy="77724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880360"/>
            <a:ext cx="99441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71717A"/>
                </a:solidFill>
                <a:latin typeface="Calibri"/>
              </a:rPr>
              <a:t>RESTORE 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081528"/>
            <a:ext cx="99441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B45309"/>
                </a:solidFill>
                <a:latin typeface="Calibri"/>
              </a:rPr>
              <a:t>14m 02s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091690" y="2788920"/>
            <a:ext cx="1177290" cy="77724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83130" y="2880360"/>
            <a:ext cx="99441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71717A"/>
                </a:solidFill>
                <a:latin typeface="Calibri"/>
              </a:rPr>
              <a:t>ROWS VERIFIED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83130" y="3081528"/>
            <a:ext cx="99441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B91C1C"/>
                </a:solidFill>
                <a:latin typeface="Calibri"/>
              </a:rPr>
              <a:t>3.8M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60420" y="2788920"/>
            <a:ext cx="1177290" cy="77724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51860" y="2880360"/>
            <a:ext cx="99441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71717A"/>
                </a:solidFill>
                <a:latin typeface="Calibri"/>
              </a:rPr>
              <a:t>ASSERTIONS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51860" y="3081528"/>
            <a:ext cx="99441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B91C1C"/>
                </a:solidFill>
                <a:latin typeface="Calibri"/>
              </a:rPr>
              <a:t>4 / 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29150" y="2788920"/>
            <a:ext cx="1177290" cy="77724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20590" y="2880360"/>
            <a:ext cx="99441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71717A"/>
                </a:solidFill>
                <a:latin typeface="Calibri"/>
              </a:rPr>
              <a:t>EVIDENCE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20590" y="3081528"/>
            <a:ext cx="99441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8181B"/>
                </a:solidFill>
                <a:latin typeface="Calibri"/>
              </a:rPr>
              <a:t>Signed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3749040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3767328"/>
            <a:ext cx="7772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>
                <a:solidFill>
                  <a:srgbClr val="047857"/>
                </a:solidFill>
                <a:latin typeface="Calibri"/>
              </a:rPr>
              <a:t>✓ provision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691640" y="3749040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691640" y="3767328"/>
            <a:ext cx="7772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>
                <a:solidFill>
                  <a:srgbClr val="047857"/>
                </a:solidFill>
                <a:latin typeface="Calibri"/>
              </a:rPr>
              <a:t>✓ fetch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560320" y="3749040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560320" y="3767328"/>
            <a:ext cx="7772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>
                <a:solidFill>
                  <a:srgbClr val="047857"/>
                </a:solidFill>
                <a:latin typeface="Calibri"/>
              </a:rPr>
              <a:t>✓ restore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29000" y="3749040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29000" y="3767328"/>
            <a:ext cx="7772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>
                <a:solidFill>
                  <a:srgbClr val="B91C1C"/>
                </a:solidFill>
                <a:latin typeface="Calibri"/>
              </a:rPr>
              <a:t>✗ assert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297680" y="3749040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97680" y="3767328"/>
            <a:ext cx="7772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>
                <a:solidFill>
                  <a:srgbClr val="047857"/>
                </a:solidFill>
                <a:latin typeface="Calibri"/>
              </a:rPr>
              <a:t>✓ report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166360" y="3749040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66360" y="3767328"/>
            <a:ext cx="7772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>
                <a:solidFill>
                  <a:srgbClr val="047857"/>
                </a:solidFill>
                <a:latin typeface="Calibri"/>
              </a:rPr>
              <a:t>✓ teardown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22960" y="4206240"/>
            <a:ext cx="4983480" cy="1645920"/>
          </a:xfrm>
          <a:prstGeom prst="roundRect">
            <a:avLst>
              <a:gd name="adj" fmla="val 5000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60120" y="4315968"/>
            <a:ext cx="4709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B91C1C"/>
                </a:solidFill>
                <a:latin typeface="Calibri"/>
              </a:rPr>
              <a:t>FAILED ASSERTIONS  ·  ALERTED 04:11 UTC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" y="4590288"/>
            <a:ext cx="4709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Calibri"/>
              </a:rPr>
              <a:t>• orders.created_at freshness — latest row is 5d 11h old (max 26h)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0120" y="4846320"/>
            <a:ext cx="4709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Calibri"/>
              </a:rPr>
              <a:t>• payments.amount — 421 NULLs in a NOT NULL column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0120" y="5102352"/>
            <a:ext cx="4709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Calibri"/>
              </a:rPr>
              <a:t>• Paged oncall@yours.co and #ops Slack — broken backup, before the outage.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17920" y="1508760"/>
            <a:ext cx="5532120" cy="4526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217920" y="1508760"/>
            <a:ext cx="5532120" cy="36576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355080" y="1627632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537960" y="1627632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720840" y="1627632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995160" y="1600200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A1A1AA"/>
                </a:solidFill>
                <a:latin typeface="Consolas"/>
              </a:rPr>
              <a:t>app.soteria.io/drills/...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92240" y="205740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8181B"/>
                </a:solidFill>
                <a:latin typeface="Calibri"/>
              </a:rPr>
              <a:t>production-primary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92240" y="2331720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71717A"/>
                </a:solidFill>
                <a:latin typeface="Calibri"/>
              </a:rPr>
              <a:t>Daily drill  ·  pg_dump -Fc  ·  4.2 GB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469880" y="2057400"/>
            <a:ext cx="1051560" cy="32004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469880" y="2084832"/>
            <a:ext cx="10515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47857"/>
                </a:solidFill>
                <a:latin typeface="Calibri"/>
              </a:rPr>
              <a:t>● passed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492240" y="2788920"/>
            <a:ext cx="1177290" cy="77724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583680" y="2880360"/>
            <a:ext cx="99441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71717A"/>
                </a:solidFill>
                <a:latin typeface="Calibri"/>
              </a:rPr>
              <a:t>RESTORE TIME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0" y="3081528"/>
            <a:ext cx="99441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47857"/>
                </a:solidFill>
                <a:latin typeface="Calibri"/>
              </a:rPr>
              <a:t>2m 14s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760970" y="2788920"/>
            <a:ext cx="1177290" cy="77724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852410" y="2880360"/>
            <a:ext cx="99441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71717A"/>
                </a:solidFill>
                <a:latin typeface="Calibri"/>
              </a:rPr>
              <a:t>ROWS VERIFIED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852410" y="3081528"/>
            <a:ext cx="99441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8181B"/>
                </a:solidFill>
                <a:latin typeface="Calibri"/>
              </a:rPr>
              <a:t>4.2M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029700" y="2788920"/>
            <a:ext cx="1177290" cy="77724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121140" y="2880360"/>
            <a:ext cx="99441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71717A"/>
                </a:solidFill>
                <a:latin typeface="Calibri"/>
              </a:rPr>
              <a:t>ASSERTIONS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21140" y="3081528"/>
            <a:ext cx="99441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47857"/>
                </a:solidFill>
                <a:latin typeface="Calibri"/>
              </a:rPr>
              <a:t>6 / 6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0298430" y="2788920"/>
            <a:ext cx="1177290" cy="777240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389870" y="2880360"/>
            <a:ext cx="99441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71717A"/>
                </a:solidFill>
                <a:latin typeface="Calibri"/>
              </a:rPr>
              <a:t>EVIDENCE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389870" y="3081528"/>
            <a:ext cx="99441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8181B"/>
                </a:solidFill>
                <a:latin typeface="Calibri"/>
              </a:rPr>
              <a:t>Signed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492240" y="3749040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92240" y="3767328"/>
            <a:ext cx="7772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>
                <a:solidFill>
                  <a:srgbClr val="047857"/>
                </a:solidFill>
                <a:latin typeface="Calibri"/>
              </a:rPr>
              <a:t>✓ provision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360920" y="3749040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360920" y="3767328"/>
            <a:ext cx="7772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>
                <a:solidFill>
                  <a:srgbClr val="047857"/>
                </a:solidFill>
                <a:latin typeface="Calibri"/>
              </a:rPr>
              <a:t>✓ fetch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229600" y="3749040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229600" y="3767328"/>
            <a:ext cx="7772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>
                <a:solidFill>
                  <a:srgbClr val="047857"/>
                </a:solidFill>
                <a:latin typeface="Calibri"/>
              </a:rPr>
              <a:t>✓ restore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098280" y="3749040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098280" y="3767328"/>
            <a:ext cx="7772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>
                <a:solidFill>
                  <a:srgbClr val="047857"/>
                </a:solidFill>
                <a:latin typeface="Calibri"/>
              </a:rPr>
              <a:t>✓ assert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9966960" y="3749040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966960" y="3767328"/>
            <a:ext cx="7772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>
                <a:solidFill>
                  <a:srgbClr val="047857"/>
                </a:solidFill>
                <a:latin typeface="Calibri"/>
              </a:rPr>
              <a:t>✓ report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10835640" y="3749040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835640" y="3767328"/>
            <a:ext cx="7772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0">
                <a:solidFill>
                  <a:srgbClr val="047857"/>
                </a:solidFill>
                <a:latin typeface="Calibri"/>
              </a:rPr>
              <a:t>✓ teardown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492240" y="4206240"/>
            <a:ext cx="4983480" cy="1645920"/>
          </a:xfrm>
          <a:prstGeom prst="roundRect">
            <a:avLst>
              <a:gd name="adj" fmla="val 5000"/>
            </a:avLst>
          </a:prstGeom>
          <a:solidFill>
            <a:srgbClr val="ECFDF5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629400" y="4315968"/>
            <a:ext cx="4709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047857"/>
                </a:solidFill>
                <a:latin typeface="Calibri"/>
              </a:rPr>
              <a:t>ALL 6 ASSERTIONS PASSED  ·  SIGNED AND ARCHIVED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629400" y="4590288"/>
            <a:ext cx="4709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Calibri"/>
              </a:rPr>
              <a:t>• Restore time within SLO. Fresh data within window.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629400" y="4846320"/>
            <a:ext cx="4709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Calibri"/>
              </a:rPr>
              <a:t>• Schema match. Row counts within tolerance.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629400" y="5102352"/>
            <a:ext cx="4709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Calibri"/>
              </a:rPr>
              <a:t>• Ed25519-signed PDF in the evidence vault. No human in the loop.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48640" y="617220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8181B"/>
                </a:solidFill>
                <a:latin typeface="Calibri"/>
              </a:rPr>
              <a:t>The difference: one of these gets fixed Tuesday morning. The other becomes an incident.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8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83C5D"/>
                </a:solidFill>
                <a:latin typeface="Calibri"/>
              </a:rPr>
              <a:t>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8181B"/>
                </a:solidFill>
                <a:latin typeface="Calibri"/>
              </a:rPr>
              <a:t>Every regulated B2B company is a buyer.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A1A1AA"/>
                </a:solidFill>
                <a:latin typeface="Calibri"/>
              </a:rPr>
              <a:t>7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A1A1AA"/>
                </a:solidFill>
                <a:latin typeface="Calibri"/>
              </a:rPr>
              <a:t>SOTERIA  ·  Backup verification you can prove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3611880" cy="4206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3611880" cy="73152"/>
          </a:xfrm>
          <a:prstGeom prst="rect">
            <a:avLst/>
          </a:prstGeom>
          <a:solidFill>
            <a:srgbClr val="28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2880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8181B"/>
                </a:solidFill>
                <a:latin typeface="Calibri"/>
              </a:rPr>
              <a:t>Compliance-driven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31720"/>
            <a:ext cx="32461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SOC 2, ISO 27001, HIPAA, PCI all require restore testing.
The auditor wants signed proof — not a policy doc.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65760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283C5D"/>
                </a:solidFill>
                <a:latin typeface="Calibri"/>
              </a:rPr>
              <a:t>PRIMARY BEACHHEAD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050792"/>
            <a:ext cx="73152" cy="731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977640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Series A → C SaaS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4416552"/>
            <a:ext cx="73152" cy="731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343400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Fintech, healthtech, legaltech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4782312"/>
            <a:ext cx="73152" cy="731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709160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20-500 employees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1554480"/>
            <a:ext cx="3611880" cy="4206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43400" y="1554480"/>
            <a:ext cx="3611880" cy="73152"/>
          </a:xfrm>
          <a:prstGeom prst="rect">
            <a:avLst/>
          </a:prstGeom>
          <a:solidFill>
            <a:srgbClr val="28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7720" y="182880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8181B"/>
                </a:solidFill>
                <a:latin typeface="Calibri"/>
              </a:rPr>
              <a:t>Trauma-driven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2331720"/>
            <a:ext cx="32461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Teams that have lived through a failed restore (or watched
a peer live through one) buy fast and pay full price.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365760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283C5D"/>
                </a:solidFill>
                <a:latin typeface="Calibri"/>
              </a:rPr>
              <a:t>WORD-OF-MOUTH ENGINE</a:t>
            </a:r>
          </a:p>
        </p:txBody>
      </p:sp>
      <p:sp>
        <p:nvSpPr>
          <p:cNvPr id="23" name="Oval 22"/>
          <p:cNvSpPr/>
          <p:nvPr/>
        </p:nvSpPr>
        <p:spPr>
          <a:xfrm>
            <a:off x="4617720" y="4050792"/>
            <a:ext cx="73152" cy="731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00600" y="3977640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Anyone who lost data</a:t>
            </a:r>
          </a:p>
        </p:txBody>
      </p:sp>
      <p:sp>
        <p:nvSpPr>
          <p:cNvPr id="25" name="Oval 24"/>
          <p:cNvSpPr/>
          <p:nvPr/>
        </p:nvSpPr>
        <p:spPr>
          <a:xfrm>
            <a:off x="4617720" y="4416552"/>
            <a:ext cx="73152" cy="731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00600" y="4343400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Anyone whose CTO did</a:t>
            </a:r>
          </a:p>
        </p:txBody>
      </p:sp>
      <p:sp>
        <p:nvSpPr>
          <p:cNvPr id="27" name="Oval 26"/>
          <p:cNvSpPr/>
          <p:nvPr/>
        </p:nvSpPr>
        <p:spPr>
          <a:xfrm>
            <a:off x="4617720" y="4782312"/>
            <a:ext cx="73152" cy="731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00600" y="4709160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Sleep-driven purchase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38160" y="1554480"/>
            <a:ext cx="3611880" cy="4206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38160" y="1554480"/>
            <a:ext cx="3611880" cy="73152"/>
          </a:xfrm>
          <a:prstGeom prst="rect">
            <a:avLst/>
          </a:prstGeom>
          <a:solidFill>
            <a:srgbClr val="28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0" y="182880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8181B"/>
                </a:solidFill>
                <a:latin typeface="Calibri"/>
              </a:rPr>
              <a:t>Devops-mature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2331720"/>
            <a:ext cx="32461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Teams that already run chaos drills and game-days but
have never automated backup verification.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365760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283C5D"/>
                </a:solidFill>
                <a:latin typeface="Calibri"/>
              </a:rPr>
              <a:t>INBOUND VIA CONTENT</a:t>
            </a:r>
          </a:p>
        </p:txBody>
      </p:sp>
      <p:sp>
        <p:nvSpPr>
          <p:cNvPr id="34" name="Oval 33"/>
          <p:cNvSpPr/>
          <p:nvPr/>
        </p:nvSpPr>
        <p:spPr>
          <a:xfrm>
            <a:off x="8412480" y="4050792"/>
            <a:ext cx="73152" cy="731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95360" y="3977640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Strong infra culture</a:t>
            </a:r>
          </a:p>
        </p:txBody>
      </p:sp>
      <p:sp>
        <p:nvSpPr>
          <p:cNvPr id="36" name="Oval 35"/>
          <p:cNvSpPr/>
          <p:nvPr/>
        </p:nvSpPr>
        <p:spPr>
          <a:xfrm>
            <a:off x="8412480" y="4416552"/>
            <a:ext cx="73152" cy="731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95360" y="4343400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Already pay for Datadog tier</a:t>
            </a:r>
          </a:p>
        </p:txBody>
      </p:sp>
      <p:sp>
        <p:nvSpPr>
          <p:cNvPr id="38" name="Oval 37"/>
          <p:cNvSpPr/>
          <p:nvPr/>
        </p:nvSpPr>
        <p:spPr>
          <a:xfrm>
            <a:off x="8412480" y="4782312"/>
            <a:ext cx="73152" cy="731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95360" y="4709160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Self-serve onboarding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03504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71717A"/>
                </a:solidFill>
                <a:latin typeface="Calibri"/>
              </a:rPr>
              <a:t>Bottom-up via SOC 2 prep → expansion into the rest of the company. Land at $99, expand to $299, retain on the audit trail.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8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83C5D"/>
                </a:solidFill>
                <a:latin typeface="Calibri"/>
              </a:rPr>
              <a:t>PRICING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8181B"/>
                </a:solidFill>
                <a:latin typeface="Calibri"/>
              </a:rPr>
              <a:t>Pricing by how often you verify.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A1A1AA"/>
                </a:solidFill>
                <a:latin typeface="Calibri"/>
              </a:rPr>
              <a:t>8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A1A1AA"/>
                </a:solidFill>
                <a:latin typeface="Calibri"/>
              </a:rPr>
              <a:t>SOTERIA  ·  Backup verification you can prove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365760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8181B"/>
                </a:solidFill>
                <a:latin typeface="Calibri"/>
              </a:rPr>
              <a:t>Trial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1460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18181B"/>
                </a:solidFill>
                <a:latin typeface="Calibri"/>
              </a:rPr>
              <a:t>Free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291840"/>
            <a:ext cx="3108960" cy="59436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337560"/>
            <a:ext cx="3108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283C5D"/>
                </a:solidFill>
                <a:latin typeface="Calibri"/>
              </a:rPr>
              <a:t>FREE FOR 14 DAYS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54787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21304A"/>
                </a:solidFill>
                <a:latin typeface="Calibri"/>
              </a:rPr>
              <a:t>Daily drills, full access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4142232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06908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Calibri"/>
              </a:rPr>
              <a:t>10 databases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462272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38912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Calibri"/>
              </a:rPr>
              <a:t>10 team seats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4782312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70916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Calibri"/>
              </a:rPr>
              <a:t>Signed PDF evidence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5102352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02920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Calibri"/>
              </a:rPr>
              <a:t>7-year retention</a:t>
            </a:r>
          </a:p>
        </p:txBody>
      </p:sp>
      <p:sp>
        <p:nvSpPr>
          <p:cNvPr id="21" name="Oval 20"/>
          <p:cNvSpPr/>
          <p:nvPr/>
        </p:nvSpPr>
        <p:spPr>
          <a:xfrm>
            <a:off x="822960" y="5422392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34924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Calibri"/>
              </a:rPr>
              <a:t>API &amp; webhooks</a:t>
            </a:r>
          </a:p>
        </p:txBody>
      </p:sp>
      <p:sp>
        <p:nvSpPr>
          <p:cNvPr id="23" name="Oval 22"/>
          <p:cNvSpPr/>
          <p:nvPr/>
        </p:nvSpPr>
        <p:spPr>
          <a:xfrm>
            <a:off x="822960" y="5742432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566928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Calibri"/>
              </a:rPr>
              <a:t>Community support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3400" y="1828800"/>
            <a:ext cx="365760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283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892040" y="1691640"/>
            <a:ext cx="1828800" cy="274320"/>
          </a:xfrm>
          <a:prstGeom prst="roundRect">
            <a:avLst>
              <a:gd name="adj" fmla="val 50000"/>
            </a:avLst>
          </a:prstGeom>
          <a:solidFill>
            <a:srgbClr val="28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92040" y="1709928"/>
            <a:ext cx="18288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MOST POPULAR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20" y="210312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8181B"/>
                </a:solidFill>
                <a:latin typeface="Calibri"/>
              </a:rPr>
              <a:t>Starter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20" y="251460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18181B"/>
                </a:solidFill>
                <a:latin typeface="Calibri"/>
              </a:rPr>
              <a:t>$99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97880" y="274320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71717A"/>
                </a:solidFill>
                <a:latin typeface="Calibri"/>
              </a:rPr>
              <a:t>/mo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617720" y="3291840"/>
            <a:ext cx="3108960" cy="59436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17720" y="3337560"/>
            <a:ext cx="3108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283C5D"/>
                </a:solidFill>
                <a:latin typeface="Calibri"/>
              </a:rPr>
              <a:t>DRILL FREQUENCY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17720" y="354787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21304A"/>
                </a:solidFill>
                <a:latin typeface="Calibri"/>
              </a:rPr>
              <a:t>Daily</a:t>
            </a:r>
          </a:p>
        </p:txBody>
      </p:sp>
      <p:sp>
        <p:nvSpPr>
          <p:cNvPr id="34" name="Oval 33"/>
          <p:cNvSpPr/>
          <p:nvPr/>
        </p:nvSpPr>
        <p:spPr>
          <a:xfrm>
            <a:off x="4617720" y="4142232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00600" y="406908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Calibri"/>
              </a:rPr>
              <a:t>10 databases</a:t>
            </a:r>
          </a:p>
        </p:txBody>
      </p:sp>
      <p:sp>
        <p:nvSpPr>
          <p:cNvPr id="36" name="Oval 35"/>
          <p:cNvSpPr/>
          <p:nvPr/>
        </p:nvSpPr>
        <p:spPr>
          <a:xfrm>
            <a:off x="4617720" y="4462272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00600" y="438912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Calibri"/>
              </a:rPr>
              <a:t>10 team seats</a:t>
            </a:r>
          </a:p>
        </p:txBody>
      </p:sp>
      <p:sp>
        <p:nvSpPr>
          <p:cNvPr id="38" name="Oval 37"/>
          <p:cNvSpPr/>
          <p:nvPr/>
        </p:nvSpPr>
        <p:spPr>
          <a:xfrm>
            <a:off x="4617720" y="4782312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800600" y="470916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Calibri"/>
              </a:rPr>
              <a:t>Signed PDF evidence</a:t>
            </a:r>
          </a:p>
        </p:txBody>
      </p:sp>
      <p:sp>
        <p:nvSpPr>
          <p:cNvPr id="40" name="Oval 39"/>
          <p:cNvSpPr/>
          <p:nvPr/>
        </p:nvSpPr>
        <p:spPr>
          <a:xfrm>
            <a:off x="4617720" y="5102352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800600" y="502920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Calibri"/>
              </a:rPr>
              <a:t>7-year retention</a:t>
            </a:r>
          </a:p>
        </p:txBody>
      </p:sp>
      <p:sp>
        <p:nvSpPr>
          <p:cNvPr id="42" name="Oval 41"/>
          <p:cNvSpPr/>
          <p:nvPr/>
        </p:nvSpPr>
        <p:spPr>
          <a:xfrm>
            <a:off x="4617720" y="5422392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800600" y="534924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Calibri"/>
              </a:rPr>
              <a:t>API &amp; webhooks · Slack alerts</a:t>
            </a:r>
          </a:p>
        </p:txBody>
      </p:sp>
      <p:sp>
        <p:nvSpPr>
          <p:cNvPr id="44" name="Oval 43"/>
          <p:cNvSpPr/>
          <p:nvPr/>
        </p:nvSpPr>
        <p:spPr>
          <a:xfrm>
            <a:off x="4617720" y="5742432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800600" y="566928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Calibri"/>
              </a:rPr>
              <a:t>Email support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138160" y="1828800"/>
            <a:ext cx="365760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12480" y="210312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8181B"/>
                </a:solidFill>
                <a:latin typeface="Calibri"/>
              </a:rPr>
              <a:t>Pro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12480" y="251460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18181B"/>
                </a:solidFill>
                <a:latin typeface="Calibri"/>
              </a:rPr>
              <a:t>$299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92640" y="274320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71717A"/>
                </a:solidFill>
                <a:latin typeface="Calibri"/>
              </a:rPr>
              <a:t>/mo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412480" y="3291840"/>
            <a:ext cx="3108960" cy="59436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412480" y="3337560"/>
            <a:ext cx="3108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283C5D"/>
                </a:solidFill>
                <a:latin typeface="Calibri"/>
              </a:rPr>
              <a:t>DRILL FREQUENCY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12480" y="354787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21304A"/>
                </a:solidFill>
                <a:latin typeface="Calibri"/>
              </a:rPr>
              <a:t>Hourly</a:t>
            </a:r>
          </a:p>
        </p:txBody>
      </p:sp>
      <p:sp>
        <p:nvSpPr>
          <p:cNvPr id="53" name="Oval 52"/>
          <p:cNvSpPr/>
          <p:nvPr/>
        </p:nvSpPr>
        <p:spPr>
          <a:xfrm>
            <a:off x="8412480" y="4142232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595360" y="406908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Calibri"/>
              </a:rPr>
              <a:t>Unlimited databases</a:t>
            </a:r>
          </a:p>
        </p:txBody>
      </p:sp>
      <p:sp>
        <p:nvSpPr>
          <p:cNvPr id="55" name="Oval 54"/>
          <p:cNvSpPr/>
          <p:nvPr/>
        </p:nvSpPr>
        <p:spPr>
          <a:xfrm>
            <a:off x="8412480" y="4462272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595360" y="438912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Calibri"/>
              </a:rPr>
              <a:t>Unlimited team seats</a:t>
            </a:r>
          </a:p>
        </p:txBody>
      </p:sp>
      <p:sp>
        <p:nvSpPr>
          <p:cNvPr id="57" name="Oval 56"/>
          <p:cNvSpPr/>
          <p:nvPr/>
        </p:nvSpPr>
        <p:spPr>
          <a:xfrm>
            <a:off x="8412480" y="4782312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595360" y="470916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Calibri"/>
              </a:rPr>
              <a:t>Signed PDF evidence</a:t>
            </a:r>
          </a:p>
        </p:txBody>
      </p:sp>
      <p:sp>
        <p:nvSpPr>
          <p:cNvPr id="59" name="Oval 58"/>
          <p:cNvSpPr/>
          <p:nvPr/>
        </p:nvSpPr>
        <p:spPr>
          <a:xfrm>
            <a:off x="8412480" y="5102352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595360" y="502920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Calibri"/>
              </a:rPr>
              <a:t>7-year retention</a:t>
            </a:r>
          </a:p>
        </p:txBody>
      </p:sp>
      <p:sp>
        <p:nvSpPr>
          <p:cNvPr id="61" name="Oval 60"/>
          <p:cNvSpPr/>
          <p:nvPr/>
        </p:nvSpPr>
        <p:spPr>
          <a:xfrm>
            <a:off x="8412480" y="5422392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595360" y="534924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Calibri"/>
              </a:rPr>
              <a:t>API &amp; webhooks · Slack</a:t>
            </a:r>
          </a:p>
        </p:txBody>
      </p:sp>
      <p:sp>
        <p:nvSpPr>
          <p:cNvPr id="63" name="Oval 62"/>
          <p:cNvSpPr/>
          <p:nvPr/>
        </p:nvSpPr>
        <p:spPr>
          <a:xfrm>
            <a:off x="8412480" y="5742432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595360" y="566928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F3F46"/>
                </a:solidFill>
                <a:latin typeface="Calibri"/>
              </a:rPr>
              <a:t>SSO/SAML · Priority support · SLA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71717A"/>
                </a:solidFill>
                <a:latin typeface="Calibri"/>
              </a:rPr>
              <a:t>Enterprise: SOC 2 docs, custom retention, self-hosted runner in your VPC — contact sales.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8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83C5D"/>
                </a:solidFill>
                <a:latin typeface="Calibri"/>
              </a:rPr>
              <a:t>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8181B"/>
                </a:solidFill>
                <a:latin typeface="Calibri"/>
              </a:rPr>
              <a:t>Where we stand today.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A1A1AA"/>
                </a:solidFill>
                <a:latin typeface="Calibri"/>
              </a:rPr>
              <a:t>9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A1A1AA"/>
                </a:solidFill>
                <a:latin typeface="Calibri"/>
              </a:rPr>
              <a:t>SOTERIA  ·  Backup verification you can prove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3657600" cy="100584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47857"/>
                </a:solidFill>
                <a:latin typeface="Calibri"/>
              </a:rPr>
              <a:t>✓ DONE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47857"/>
                </a:solidFill>
                <a:latin typeface="Calibri"/>
              </a:rPr>
              <a:t>Product code-complete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554480"/>
            <a:ext cx="3657600" cy="100584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16916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047857"/>
                </a:solidFill>
                <a:latin typeface="Calibri"/>
              </a:rPr>
              <a:t>✓ DONE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0116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47857"/>
                </a:solidFill>
                <a:latin typeface="Calibri"/>
              </a:rPr>
              <a:t>Deployment pipeline live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554480"/>
            <a:ext cx="3657600" cy="100584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16916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283C5D"/>
                </a:solidFill>
                <a:latin typeface="Calibri"/>
              </a:rPr>
              <a:t>○ NEXT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0116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283C5D"/>
                </a:solidFill>
                <a:latin typeface="Calibri"/>
              </a:rPr>
              <a:t>Onboarding 5 design partners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788920"/>
            <a:ext cx="5532120" cy="3657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2788920"/>
            <a:ext cx="54864" cy="3657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017520"/>
            <a:ext cx="5074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Calibri"/>
              </a:rPr>
              <a:t>SHIPPED — IN THE REPO TODAY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3520440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429000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Drill engine: fetch · restore · assert · sign · teardown</a:t>
            </a:r>
          </a:p>
        </p:txBody>
      </p:sp>
      <p:sp>
        <p:nvSpPr>
          <p:cNvPr id="21" name="Oval 20"/>
          <p:cNvSpPr/>
          <p:nvPr/>
        </p:nvSpPr>
        <p:spPr>
          <a:xfrm>
            <a:off x="822960" y="3904488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3813048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Multi-tenant SaaS: auth, MFA, RBAC, billing (Stripe), audit log</a:t>
            </a:r>
          </a:p>
        </p:txBody>
      </p:sp>
      <p:sp>
        <p:nvSpPr>
          <p:cNvPr id="23" name="Oval 22"/>
          <p:cNvSpPr/>
          <p:nvPr/>
        </p:nvSpPr>
        <p:spPr>
          <a:xfrm>
            <a:off x="822960" y="4288536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4197096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Evidence vault: Ed25519 signed PDFs, AES-GCM, 7-year retention</a:t>
            </a:r>
          </a:p>
        </p:txBody>
      </p:sp>
      <p:sp>
        <p:nvSpPr>
          <p:cNvPr id="25" name="Oval 24"/>
          <p:cNvSpPr/>
          <p:nvPr/>
        </p:nvSpPr>
        <p:spPr>
          <a:xfrm>
            <a:off x="822960" y="4672584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4581144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Versioned JSON API + signed webhooks</a:t>
            </a:r>
          </a:p>
        </p:txBody>
      </p:sp>
      <p:sp>
        <p:nvSpPr>
          <p:cNvPr id="27" name="Oval 26"/>
          <p:cNvSpPr/>
          <p:nvPr/>
        </p:nvSpPr>
        <p:spPr>
          <a:xfrm>
            <a:off x="822960" y="5056632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4965192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Fly.io deployment with auto-deploy on green CI</a:t>
            </a:r>
          </a:p>
        </p:txBody>
      </p:sp>
      <p:sp>
        <p:nvSpPr>
          <p:cNvPr id="29" name="Oval 28"/>
          <p:cNvSpPr/>
          <p:nvPr/>
        </p:nvSpPr>
        <p:spPr>
          <a:xfrm>
            <a:off x="822960" y="5440680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5349240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Persistent evidence storage, monitoring hooks</a:t>
            </a:r>
          </a:p>
        </p:txBody>
      </p:sp>
      <p:sp>
        <p:nvSpPr>
          <p:cNvPr id="31" name="Oval 30"/>
          <p:cNvSpPr/>
          <p:nvPr/>
        </p:nvSpPr>
        <p:spPr>
          <a:xfrm>
            <a:off x="822960" y="5824728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5733288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Pricing, signup, onboarding flows</a:t>
            </a:r>
          </a:p>
        </p:txBody>
      </p:sp>
      <p:sp>
        <p:nvSpPr>
          <p:cNvPr id="33" name="Oval 32"/>
          <p:cNvSpPr/>
          <p:nvPr/>
        </p:nvSpPr>
        <p:spPr>
          <a:xfrm>
            <a:off x="822960" y="6208776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" y="6117336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Compliance-ready: SOC 2 evidence model, immutable audit trail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72200" y="2788920"/>
            <a:ext cx="5532120" cy="3657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72200" y="2788920"/>
            <a:ext cx="54864" cy="3657600"/>
          </a:xfrm>
          <a:prstGeom prst="rect">
            <a:avLst/>
          </a:prstGeom>
          <a:solidFill>
            <a:srgbClr val="28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3017520"/>
            <a:ext cx="5074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83C5D"/>
                </a:solidFill>
                <a:latin typeface="Calibri"/>
              </a:rPr>
              <a:t>NEXT 90 DAYS</a:t>
            </a:r>
          </a:p>
        </p:txBody>
      </p:sp>
      <p:sp>
        <p:nvSpPr>
          <p:cNvPr id="38" name="Oval 37"/>
          <p:cNvSpPr/>
          <p:nvPr/>
        </p:nvSpPr>
        <p:spPr>
          <a:xfrm>
            <a:off x="6446520" y="3520440"/>
            <a:ext cx="91440" cy="91440"/>
          </a:xfrm>
          <a:prstGeom prst="ellipse">
            <a:avLst/>
          </a:prstGeom>
          <a:solidFill>
            <a:srgbClr val="283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29400" y="3429000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Onboard 5 design-partner customers</a:t>
            </a:r>
          </a:p>
        </p:txBody>
      </p:sp>
      <p:sp>
        <p:nvSpPr>
          <p:cNvPr id="40" name="Oval 39"/>
          <p:cNvSpPr/>
          <p:nvPr/>
        </p:nvSpPr>
        <p:spPr>
          <a:xfrm>
            <a:off x="6446520" y="3904488"/>
            <a:ext cx="91440" cy="91440"/>
          </a:xfrm>
          <a:prstGeom prst="ellipse">
            <a:avLst/>
          </a:prstGeom>
          <a:solidFill>
            <a:srgbClr val="283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29400" y="3813048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Drill real production Postgres dumps end-to-end</a:t>
            </a:r>
          </a:p>
        </p:txBody>
      </p:sp>
      <p:sp>
        <p:nvSpPr>
          <p:cNvPr id="42" name="Oval 41"/>
          <p:cNvSpPr/>
          <p:nvPr/>
        </p:nvSpPr>
        <p:spPr>
          <a:xfrm>
            <a:off x="6446520" y="4288536"/>
            <a:ext cx="91440" cy="91440"/>
          </a:xfrm>
          <a:prstGeom prst="ellipse">
            <a:avLst/>
          </a:prstGeom>
          <a:solidFill>
            <a:srgbClr val="283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29400" y="4197096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First $99 / $299 paid subscription via Stripe</a:t>
            </a:r>
          </a:p>
        </p:txBody>
      </p:sp>
      <p:sp>
        <p:nvSpPr>
          <p:cNvPr id="44" name="Oval 43"/>
          <p:cNvSpPr/>
          <p:nvPr/>
        </p:nvSpPr>
        <p:spPr>
          <a:xfrm>
            <a:off x="6446520" y="4672584"/>
            <a:ext cx="91440" cy="91440"/>
          </a:xfrm>
          <a:prstGeom prst="ellipse">
            <a:avLst/>
          </a:prstGeom>
          <a:solidFill>
            <a:srgbClr val="283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29400" y="4581144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SOC 2 Type I evidence pack (using our own product)</a:t>
            </a:r>
          </a:p>
        </p:txBody>
      </p:sp>
      <p:sp>
        <p:nvSpPr>
          <p:cNvPr id="46" name="Oval 45"/>
          <p:cNvSpPr/>
          <p:nvPr/>
        </p:nvSpPr>
        <p:spPr>
          <a:xfrm>
            <a:off x="6446520" y="5056632"/>
            <a:ext cx="91440" cy="91440"/>
          </a:xfrm>
          <a:prstGeom prst="ellipse">
            <a:avLst/>
          </a:prstGeom>
          <a:solidFill>
            <a:srgbClr val="283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29400" y="4965192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Marketing site + docs (Astro)</a:t>
            </a:r>
          </a:p>
        </p:txBody>
      </p:sp>
      <p:sp>
        <p:nvSpPr>
          <p:cNvPr id="48" name="Oval 47"/>
          <p:cNvSpPr/>
          <p:nvPr/>
        </p:nvSpPr>
        <p:spPr>
          <a:xfrm>
            <a:off x="6446520" y="5440680"/>
            <a:ext cx="91440" cy="91440"/>
          </a:xfrm>
          <a:prstGeom prst="ellipse">
            <a:avLst/>
          </a:prstGeom>
          <a:solidFill>
            <a:srgbClr val="283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29400" y="5349240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Observability + first SLA</a:t>
            </a:r>
          </a:p>
        </p:txBody>
      </p:sp>
      <p:sp>
        <p:nvSpPr>
          <p:cNvPr id="50" name="Oval 49"/>
          <p:cNvSpPr/>
          <p:nvPr/>
        </p:nvSpPr>
        <p:spPr>
          <a:xfrm>
            <a:off x="6446520" y="5824728"/>
            <a:ext cx="91440" cy="91440"/>
          </a:xfrm>
          <a:prstGeom prst="ellipse">
            <a:avLst/>
          </a:prstGeom>
          <a:solidFill>
            <a:srgbClr val="283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629400" y="5733288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MySQL &amp; SQL Server connectors</a:t>
            </a:r>
          </a:p>
        </p:txBody>
      </p:sp>
      <p:sp>
        <p:nvSpPr>
          <p:cNvPr id="52" name="Oval 51"/>
          <p:cNvSpPr/>
          <p:nvPr/>
        </p:nvSpPr>
        <p:spPr>
          <a:xfrm>
            <a:off x="6446520" y="6208776"/>
            <a:ext cx="91440" cy="91440"/>
          </a:xfrm>
          <a:prstGeom prst="ellipse">
            <a:avLst/>
          </a:prstGeom>
          <a:solidFill>
            <a:srgbClr val="283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29400" y="6117336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Self-hosted runner option for enterprise pilots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8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83C5D"/>
                </a:solidFill>
                <a:latin typeface="Calibri"/>
              </a:rPr>
              <a:t>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0352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8181B"/>
                </a:solidFill>
                <a:latin typeface="Calibri"/>
              </a:rPr>
              <a:t>The next 90 days.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A1A1AA"/>
                </a:solidFill>
                <a:latin typeface="Calibri"/>
              </a:rPr>
              <a:t>10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A1A1AA"/>
                </a:solidFill>
                <a:latin typeface="Calibri"/>
              </a:rPr>
              <a:t>SOTERIA  ·  Backup verification you can prove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365760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3657600" cy="777240"/>
          </a:xfrm>
          <a:prstGeom prst="roundRect">
            <a:avLst>
              <a:gd name="adj" fmla="val 4000"/>
            </a:avLst>
          </a:prstGeom>
          <a:solidFill>
            <a:srgbClr val="28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6420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 – 30 DAYS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2024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Launch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2651760"/>
            <a:ext cx="91440" cy="91440"/>
          </a:xfrm>
          <a:prstGeom prst="ellipse">
            <a:avLst/>
          </a:prstGeom>
          <a:solidFill>
            <a:srgbClr val="283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56032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Fly.io production live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035808"/>
            <a:ext cx="91440" cy="91440"/>
          </a:xfrm>
          <a:prstGeom prst="ellipse">
            <a:avLst/>
          </a:prstGeom>
          <a:solidFill>
            <a:srgbClr val="283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944368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Stripe + Postmark wired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3419856"/>
            <a:ext cx="91440" cy="91440"/>
          </a:xfrm>
          <a:prstGeom prst="ellipse">
            <a:avLst/>
          </a:prstGeom>
          <a:solidFill>
            <a:srgbClr val="283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328416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First 5 design partners onboarded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3803904"/>
            <a:ext cx="91440" cy="91440"/>
          </a:xfrm>
          <a:prstGeom prst="ellipse">
            <a:avLst/>
          </a:prstGeom>
          <a:solidFill>
            <a:srgbClr val="283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712464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Real drills running on real DBs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4187952"/>
            <a:ext cx="91440" cy="91440"/>
          </a:xfrm>
          <a:prstGeom prst="ellipse">
            <a:avLst/>
          </a:prstGeom>
          <a:solidFill>
            <a:srgbClr val="283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096512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Daily evidence PDFs delivered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1554480"/>
            <a:ext cx="365760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343400" y="1554480"/>
            <a:ext cx="3657600" cy="777240"/>
          </a:xfrm>
          <a:prstGeom prst="roundRect">
            <a:avLst>
              <a:gd name="adj" fmla="val 4000"/>
            </a:avLst>
          </a:prstGeom>
          <a:solidFill>
            <a:srgbClr val="3F5E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43400" y="166420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30 – 60 DAYS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192024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Convert</a:t>
            </a:r>
          </a:p>
        </p:txBody>
      </p:sp>
      <p:sp>
        <p:nvSpPr>
          <p:cNvPr id="25" name="Oval 24"/>
          <p:cNvSpPr/>
          <p:nvPr/>
        </p:nvSpPr>
        <p:spPr>
          <a:xfrm>
            <a:off x="4617720" y="2651760"/>
            <a:ext cx="91440" cy="91440"/>
          </a:xfrm>
          <a:prstGeom prst="ellipse">
            <a:avLst/>
          </a:prstGeom>
          <a:solidFill>
            <a:srgbClr val="3F5E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00600" y="256032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Design partners → paying ($99–$299)</a:t>
            </a:r>
          </a:p>
        </p:txBody>
      </p:sp>
      <p:sp>
        <p:nvSpPr>
          <p:cNvPr id="27" name="Oval 26"/>
          <p:cNvSpPr/>
          <p:nvPr/>
        </p:nvSpPr>
        <p:spPr>
          <a:xfrm>
            <a:off x="4617720" y="3035808"/>
            <a:ext cx="91440" cy="91440"/>
          </a:xfrm>
          <a:prstGeom prst="ellipse">
            <a:avLst/>
          </a:prstGeom>
          <a:solidFill>
            <a:srgbClr val="3F5E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00600" y="2944368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First case study published</a:t>
            </a:r>
          </a:p>
        </p:txBody>
      </p:sp>
      <p:sp>
        <p:nvSpPr>
          <p:cNvPr id="29" name="Oval 28"/>
          <p:cNvSpPr/>
          <p:nvPr/>
        </p:nvSpPr>
        <p:spPr>
          <a:xfrm>
            <a:off x="4617720" y="3419856"/>
            <a:ext cx="91440" cy="91440"/>
          </a:xfrm>
          <a:prstGeom prst="ellipse">
            <a:avLst/>
          </a:prstGeom>
          <a:solidFill>
            <a:srgbClr val="3F5E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00600" y="3328416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MySQL connector beta</a:t>
            </a:r>
          </a:p>
        </p:txBody>
      </p:sp>
      <p:sp>
        <p:nvSpPr>
          <p:cNvPr id="31" name="Oval 30"/>
          <p:cNvSpPr/>
          <p:nvPr/>
        </p:nvSpPr>
        <p:spPr>
          <a:xfrm>
            <a:off x="4617720" y="3803904"/>
            <a:ext cx="91440" cy="91440"/>
          </a:xfrm>
          <a:prstGeom prst="ellipse">
            <a:avLst/>
          </a:prstGeom>
          <a:solidFill>
            <a:srgbClr val="3F5E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00600" y="3712464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Slack integration GA</a:t>
            </a:r>
          </a:p>
        </p:txBody>
      </p:sp>
      <p:sp>
        <p:nvSpPr>
          <p:cNvPr id="33" name="Oval 32"/>
          <p:cNvSpPr/>
          <p:nvPr/>
        </p:nvSpPr>
        <p:spPr>
          <a:xfrm>
            <a:off x="4617720" y="4187952"/>
            <a:ext cx="91440" cy="91440"/>
          </a:xfrm>
          <a:prstGeom prst="ellipse">
            <a:avLst/>
          </a:prstGeom>
          <a:solidFill>
            <a:srgbClr val="3F5E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00600" y="4096512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SOC 2 Type I kickoff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38160" y="1554480"/>
            <a:ext cx="365760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138160" y="1554480"/>
            <a:ext cx="3657600" cy="777240"/>
          </a:xfrm>
          <a:prstGeom prst="roundRect">
            <a:avLst>
              <a:gd name="adj" fmla="val 4000"/>
            </a:avLst>
          </a:prstGeom>
          <a:solidFill>
            <a:srgbClr val="84A0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38160" y="166420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60 – 90 DAYS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38160" y="192024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Scale</a:t>
            </a:r>
          </a:p>
        </p:txBody>
      </p:sp>
      <p:sp>
        <p:nvSpPr>
          <p:cNvPr id="39" name="Oval 38"/>
          <p:cNvSpPr/>
          <p:nvPr/>
        </p:nvSpPr>
        <p:spPr>
          <a:xfrm>
            <a:off x="8412480" y="2651760"/>
            <a:ext cx="91440" cy="91440"/>
          </a:xfrm>
          <a:prstGeom prst="ellipse">
            <a:avLst/>
          </a:prstGeom>
          <a:solidFill>
            <a:srgbClr val="84A0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95360" y="256032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10 paying customers</a:t>
            </a:r>
          </a:p>
        </p:txBody>
      </p:sp>
      <p:sp>
        <p:nvSpPr>
          <p:cNvPr id="41" name="Oval 40"/>
          <p:cNvSpPr/>
          <p:nvPr/>
        </p:nvSpPr>
        <p:spPr>
          <a:xfrm>
            <a:off x="8412480" y="3035808"/>
            <a:ext cx="91440" cy="91440"/>
          </a:xfrm>
          <a:prstGeom prst="ellipse">
            <a:avLst/>
          </a:prstGeom>
          <a:solidFill>
            <a:srgbClr val="84A0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95360" y="2944368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Inbound from content + SEO</a:t>
            </a:r>
          </a:p>
        </p:txBody>
      </p:sp>
      <p:sp>
        <p:nvSpPr>
          <p:cNvPr id="43" name="Oval 42"/>
          <p:cNvSpPr/>
          <p:nvPr/>
        </p:nvSpPr>
        <p:spPr>
          <a:xfrm>
            <a:off x="8412480" y="3419856"/>
            <a:ext cx="91440" cy="91440"/>
          </a:xfrm>
          <a:prstGeom prst="ellipse">
            <a:avLst/>
          </a:prstGeom>
          <a:solidFill>
            <a:srgbClr val="84A0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95360" y="3328416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SQL Server connector beta</a:t>
            </a:r>
          </a:p>
        </p:txBody>
      </p:sp>
      <p:sp>
        <p:nvSpPr>
          <p:cNvPr id="45" name="Oval 44"/>
          <p:cNvSpPr/>
          <p:nvPr/>
        </p:nvSpPr>
        <p:spPr>
          <a:xfrm>
            <a:off x="8412480" y="3803904"/>
            <a:ext cx="91440" cy="91440"/>
          </a:xfrm>
          <a:prstGeom prst="ellipse">
            <a:avLst/>
          </a:prstGeom>
          <a:solidFill>
            <a:srgbClr val="84A0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95360" y="3712464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First enterprise pilot</a:t>
            </a:r>
          </a:p>
        </p:txBody>
      </p:sp>
      <p:sp>
        <p:nvSpPr>
          <p:cNvPr id="47" name="Oval 46"/>
          <p:cNvSpPr/>
          <p:nvPr/>
        </p:nvSpPr>
        <p:spPr>
          <a:xfrm>
            <a:off x="8412480" y="4187952"/>
            <a:ext cx="91440" cy="91440"/>
          </a:xfrm>
          <a:prstGeom prst="ellipse">
            <a:avLst/>
          </a:prstGeom>
          <a:solidFill>
            <a:srgbClr val="84A0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95360" y="4096512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First $1k MRR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0"/>
            <a:ext cx="8076895" cy="6858000"/>
          </a:xfrm>
          <a:prstGeom prst="rect">
            <a:avLst/>
          </a:prstGeom>
          <a:solidFill>
            <a:srgbClr val="213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4A0C6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Calibri"/>
              </a:rPr>
              <a:t>Let’s build the proof layer
for every backup.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1480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D6E0EE"/>
                </a:solidFill>
                <a:latin typeface="Calibri"/>
              </a:rPr>
              <a:t>Soteria — backup verification you can prove.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120640"/>
            <a:ext cx="5943600" cy="1280160"/>
          </a:xfrm>
          <a:prstGeom prst="roundRect">
            <a:avLst>
              <a:gd name="adj" fmla="val 6000"/>
            </a:avLst>
          </a:prstGeom>
          <a:solidFill>
            <a:srgbClr val="28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52578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84A0C6"/>
                </a:solidFill>
                <a:latin typeface="Calibri"/>
              </a:rPr>
              <a:t>CONTACT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5321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ianrocks62@gmail.com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8978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D6E0EE"/>
                </a:solidFill>
                <a:latin typeface="Consolas"/>
              </a:rPr>
              <a:t>github.com/preshotcome/anything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