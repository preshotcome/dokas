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76895" cy="6858000"/>
          </a:xfrm>
          <a:prstGeom prst="rect">
            <a:avLst/>
          </a:prstGeom>
          <a:solidFill>
            <a:srgbClr val="21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54864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8778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283C5D"/>
                </a:solidFill>
                <a:latin typeface="Calibri"/>
              </a:rPr>
              <a:t>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914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SOTERIA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2377440" cy="320040"/>
          </a:xfrm>
          <a:prstGeom prst="roundRect">
            <a:avLst>
              <a:gd name="adj" fmla="val 50000"/>
            </a:avLst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23774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D6E0EE"/>
                </a:solidFill>
                <a:latin typeface="Calibri"/>
              </a:rPr>
              <a:t>●  Pre-launch · Code complete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Backup verification
you can prove.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D6E0EE"/>
                </a:solidFill>
                <a:latin typeface="Calibri"/>
              </a:rPr>
              <a:t>A B2B SaaS that drills your backups every day and signs the result —
so a broken backup shows up in a report, not an outage.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4A0C6"/>
                </a:solidFill>
                <a:latin typeface="Calibri"/>
              </a:rPr>
              <a:t>Investor brief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3C5D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Backups fail silently — you find out during the outage.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SOTERIA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576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" cy="2011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1717A"/>
                </a:solidFill>
                <a:latin typeface="Calibri"/>
              </a:rPr>
              <a:t>RESTORES THAT 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B91C1C"/>
                </a:solidFill>
                <a:latin typeface="Calibri"/>
              </a:rPr>
              <a:t>~1 in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on first attempt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554480"/>
            <a:ext cx="36576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554480"/>
            <a:ext cx="54864" cy="2011680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1717A"/>
                </a:solidFill>
                <a:latin typeface="Calibri"/>
              </a:rPr>
              <a:t>DOWNTIME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4884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8181B"/>
                </a:solidFill>
                <a:latin typeface="Calibri"/>
              </a:rPr>
              <a:t>$5,600 /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063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Gartner industry average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554480"/>
            <a:ext cx="36576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554480"/>
            <a:ext cx="54864" cy="2011680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82880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71717A"/>
                </a:solidFill>
                <a:latin typeface="Calibri"/>
              </a:rPr>
              <a:t>TEAMS TESTING WEEKLY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48840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8181B"/>
                </a:solidFill>
                <a:latin typeface="Calibri"/>
              </a:rPr>
              <a:t>&lt; 1 in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0632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most test annually or never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404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840480"/>
            <a:ext cx="54864" cy="2194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0233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alibri"/>
              </a:rPr>
              <a:t>WHY THIS HAPPENS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4340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3F3F46"/>
                </a:solidFill>
                <a:latin typeface="Calibri"/>
              </a:rPr>
              <a:t>Backup software reports "success" the moment the bytes are written. It does not verify
the bytes can be restored into a working database. Schema drift, corrupted blocks, missing
WAL segments, key-rotation gone wrong — invisible until restore time. The first real
restore most teams ever do is during the outage. That is when they discover the gap.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3C5D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A drill is a controlled restore — daily, automated, signed.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SOTERIA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1155680" cy="1097280"/>
          </a:xfrm>
          <a:prstGeom prst="roundRect">
            <a:avLst>
              <a:gd name="adj" fmla="val 5000"/>
            </a:avLst>
          </a:prstGeom>
          <a:solidFill>
            <a:srgbClr val="EEF2F8"/>
          </a:solidFill>
          <a:ln w="9525">
            <a:solidFill>
              <a:srgbClr val="D6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" cy="1097280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Soteria pulls your latest backup into a clean sandbox, runs your assertions, and produces a
cryptographically signed PDF. Run it every day. Catch the broken backup on a Tuesday.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Fetch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Read the latest
dump from S3 / GCS / etc.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540751" y="3794760"/>
            <a:ext cx="320040" cy="274320"/>
          </a:xfrm>
          <a:prstGeom prst="rightArrow">
            <a:avLst/>
          </a:prstGeom>
          <a:solidFill>
            <a:srgbClr val="84A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07095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81415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1415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4335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Restore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1415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Load it into a fresh,
isolated Postgres.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999207" y="3794760"/>
            <a:ext cx="320040" cy="274320"/>
          </a:xfrm>
          <a:prstGeom prst="rightArrow">
            <a:avLst/>
          </a:prstGeom>
          <a:solidFill>
            <a:srgbClr val="84A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65551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739871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39871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2791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Assert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39871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Run your SQL checks:
rows, schema, freshness.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457663" y="3794760"/>
            <a:ext cx="320040" cy="274320"/>
          </a:xfrm>
          <a:prstGeom prst="rightArrow">
            <a:avLst/>
          </a:prstGeom>
          <a:solidFill>
            <a:srgbClr val="84A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24007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8327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8327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1247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8327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Produce an Ed25519-
signed PDF report.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916119" y="3794760"/>
            <a:ext cx="320040" cy="274320"/>
          </a:xfrm>
          <a:prstGeom prst="rightArrow">
            <a:avLst/>
          </a:prstGeom>
          <a:solidFill>
            <a:srgbClr val="84A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82463" y="3200400"/>
            <a:ext cx="1845807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656783" y="342900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56783" y="3429000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9703" y="3456432"/>
            <a:ext cx="9771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Calibri"/>
              </a:rPr>
              <a:t>Tear down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56783" y="3977640"/>
            <a:ext cx="148004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Destroy the sandbox.
Alert on any red.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2064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52578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47857"/>
                </a:solidFill>
                <a:latin typeface="Calibri"/>
              </a:rPr>
              <a:t>THE OUTCOME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3212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"We have backups" becomes "we have signed proof, from this morning, that we can restore."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3C5D"/>
                </a:solidFill>
                <a:latin typeface="Calibri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What we have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SOTERIA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60350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6035040" cy="411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1600200"/>
            <a:ext cx="118872" cy="1188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600200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1600200"/>
            <a:ext cx="118872" cy="1188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157276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onsolas"/>
              </a:rPr>
              <a:t>app.soteria.io/drills/a1f9c2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031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production-primary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774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Daily drill  ·  pg_dump -Fc  ·  4.2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2148840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217627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Calibri"/>
              </a:rPr>
              <a:t>● passed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880360"/>
            <a:ext cx="1289304" cy="8686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999232"/>
            <a:ext cx="1106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Calibri"/>
              </a:rPr>
              <a:t>RESTORE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46120"/>
            <a:ext cx="1106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2m 14s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21992" y="2880360"/>
            <a:ext cx="1289304" cy="8686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9152" y="2999232"/>
            <a:ext cx="1106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Calibri"/>
              </a:rPr>
              <a:t>ROWS VERIFIED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9152" y="3246120"/>
            <a:ext cx="1106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4.2M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21024" y="2880360"/>
            <a:ext cx="1289304" cy="8686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58184" y="2999232"/>
            <a:ext cx="1106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Calibri"/>
              </a:rPr>
              <a:t>ASSERTIONS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58184" y="3246120"/>
            <a:ext cx="1106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6 / 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0056" y="2880360"/>
            <a:ext cx="1289304" cy="868680"/>
          </a:xfrm>
          <a:prstGeom prst="roundRect">
            <a:avLst>
              <a:gd name="adj" fmla="val 8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57216" y="2999232"/>
            <a:ext cx="11064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Calibri"/>
              </a:rPr>
              <a:t>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57216" y="3246120"/>
            <a:ext cx="11064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81B"/>
                </a:solidFill>
                <a:latin typeface="Calibri"/>
              </a:rPr>
              <a:t>Signed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provision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8308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8308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fetch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restore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0332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0332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assert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6344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6344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report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23560" y="3977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23560" y="3995928"/>
            <a:ext cx="8686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0">
                <a:solidFill>
                  <a:srgbClr val="047857"/>
                </a:solidFill>
                <a:latin typeface="Calibri"/>
              </a:rPr>
              <a:t>✓ teardown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526280"/>
            <a:ext cx="5486400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" y="461772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71717A"/>
                </a:solidFill>
                <a:latin typeface="Consolas"/>
              </a:rPr>
              <a:t>SIGNED EVIDENCE  ·  ed25519:9f2c4b…a17b  ·  valid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89204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Encrypted at rest · 7-year retention · tamper-evident chain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146304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3C5D"/>
                </a:solidFill>
                <a:latin typeface="Calibri"/>
              </a:rPr>
              <a:t>CAPABILITIES SHIPPED</a:t>
            </a:r>
          </a:p>
        </p:txBody>
      </p:sp>
      <p:sp>
        <p:nvSpPr>
          <p:cNvPr id="45" name="Oval 44"/>
          <p:cNvSpPr/>
          <p:nvPr/>
        </p:nvSpPr>
        <p:spPr>
          <a:xfrm>
            <a:off x="6858000" y="194767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59168" y="187451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Connector library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213055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S3, GCS, Azure Blob, R2, local, SFTP. Postgres first.</a:t>
            </a:r>
          </a:p>
        </p:txBody>
      </p:sp>
      <p:sp>
        <p:nvSpPr>
          <p:cNvPr id="48" name="Oval 47"/>
          <p:cNvSpPr/>
          <p:nvPr/>
        </p:nvSpPr>
        <p:spPr>
          <a:xfrm>
            <a:off x="6858000" y="249631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59168" y="242315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Isolated restore runner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59168" y="267919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Ephemeral sandbox per drill. Zero production touch.</a:t>
            </a:r>
          </a:p>
        </p:txBody>
      </p:sp>
      <p:sp>
        <p:nvSpPr>
          <p:cNvPr id="51" name="Oval 50"/>
          <p:cNvSpPr/>
          <p:nvPr/>
        </p:nvSpPr>
        <p:spPr>
          <a:xfrm>
            <a:off x="6858000" y="304495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59168" y="297179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Assertion engine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59168" y="322783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Plain SQL checks: rows, schema, freshness, invariants.</a:t>
            </a:r>
          </a:p>
        </p:txBody>
      </p:sp>
      <p:sp>
        <p:nvSpPr>
          <p:cNvPr id="54" name="Oval 53"/>
          <p:cNvSpPr/>
          <p:nvPr/>
        </p:nvSpPr>
        <p:spPr>
          <a:xfrm>
            <a:off x="6858000" y="359359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059168" y="352043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Evidence vault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59168" y="377647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Ed25519-signed PDFs, AES-GCM encrypted, 7-year retention.</a:t>
            </a:r>
          </a:p>
        </p:txBody>
      </p:sp>
      <p:sp>
        <p:nvSpPr>
          <p:cNvPr id="57" name="Oval 56"/>
          <p:cNvSpPr/>
          <p:nvPr/>
        </p:nvSpPr>
        <p:spPr>
          <a:xfrm>
            <a:off x="6858000" y="414223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59168" y="406907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Scheduling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59168" y="432511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Cron cadences per database + on-demand drills.</a:t>
            </a:r>
          </a:p>
        </p:txBody>
      </p:sp>
      <p:sp>
        <p:nvSpPr>
          <p:cNvPr id="60" name="Oval 59"/>
          <p:cNvSpPr/>
          <p:nvPr/>
        </p:nvSpPr>
        <p:spPr>
          <a:xfrm>
            <a:off x="6858000" y="469087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59168" y="461771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Failure alerts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59168" y="487375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Email, Slack, signed webhooks. Pages only on real signal.</a:t>
            </a:r>
          </a:p>
        </p:txBody>
      </p:sp>
      <p:sp>
        <p:nvSpPr>
          <p:cNvPr id="63" name="Oval 62"/>
          <p:cNvSpPr/>
          <p:nvPr/>
        </p:nvSpPr>
        <p:spPr>
          <a:xfrm>
            <a:off x="6858000" y="523951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059168" y="516635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Audit-ready reports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59168" y="542239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Per-DB history, pass-rate trends, exportable evidence packs.</a:t>
            </a:r>
          </a:p>
        </p:txBody>
      </p:sp>
      <p:sp>
        <p:nvSpPr>
          <p:cNvPr id="66" name="Oval 65"/>
          <p:cNvSpPr/>
          <p:nvPr/>
        </p:nvSpPr>
        <p:spPr>
          <a:xfrm>
            <a:off x="6858000" y="5788151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59168" y="5714999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8181B"/>
                </a:solidFill>
                <a:latin typeface="Calibri"/>
              </a:rPr>
              <a:t>JSON API &amp; multi-tenant SaaS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5971031"/>
            <a:ext cx="4645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71717A"/>
                </a:solidFill>
                <a:latin typeface="Calibri"/>
              </a:rPr>
              <a:t>Versioned API, billing, MFA, RBAC, audit 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3C5D"/>
                </a:solidFill>
                <a:latin typeface="Calibri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Every regulated B2B company is a buyer.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SOTERIA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3611880" cy="73152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8181B"/>
                </a:solidFill>
                <a:latin typeface="Calibri"/>
              </a:rPr>
              <a:t>Compliance-driven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SOC 2, ISO 27001, HIPAA, PCI all require restore testing.
The auditor wants signed proof — not a policy doc.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3C5D"/>
                </a:solidFill>
                <a:latin typeface="Calibri"/>
              </a:rPr>
              <a:t>PRIMARY BEACHHEAD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05079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Series A → C SaaS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41655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434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Fintech, healthtech, legaltech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78231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7091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20-500 employees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554480"/>
            <a:ext cx="361188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18288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8181B"/>
                </a:solidFill>
                <a:latin typeface="Calibri"/>
              </a:rPr>
              <a:t>Trauma-driven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331720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Teams that have lived through a failed restore (or watched
a peer live through one) buy fast and pay full price.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65760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3C5D"/>
                </a:solidFill>
                <a:latin typeface="Calibri"/>
              </a:rPr>
              <a:t>WORD-OF-MOUTH ENGINE</a:t>
            </a:r>
          </a:p>
        </p:txBody>
      </p:sp>
      <p:sp>
        <p:nvSpPr>
          <p:cNvPr id="23" name="Oval 22"/>
          <p:cNvSpPr/>
          <p:nvPr/>
        </p:nvSpPr>
        <p:spPr>
          <a:xfrm>
            <a:off x="4617720" y="405079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0600" y="39776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Anyone who lost data</a:t>
            </a:r>
          </a:p>
        </p:txBody>
      </p:sp>
      <p:sp>
        <p:nvSpPr>
          <p:cNvPr id="25" name="Oval 24"/>
          <p:cNvSpPr/>
          <p:nvPr/>
        </p:nvSpPr>
        <p:spPr>
          <a:xfrm>
            <a:off x="4617720" y="441655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43434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Anyone whose CTO did</a:t>
            </a:r>
          </a:p>
        </p:txBody>
      </p:sp>
      <p:sp>
        <p:nvSpPr>
          <p:cNvPr id="27" name="Oval 26"/>
          <p:cNvSpPr/>
          <p:nvPr/>
        </p:nvSpPr>
        <p:spPr>
          <a:xfrm>
            <a:off x="4617720" y="478231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47091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Sleep-driven purchase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1554480"/>
            <a:ext cx="361188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1554480"/>
            <a:ext cx="3611880" cy="73152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1828800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8181B"/>
                </a:solidFill>
                <a:latin typeface="Calibri"/>
              </a:rPr>
              <a:t>Devops-mature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2331720"/>
            <a:ext cx="3246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Teams that already run chaos drills and game-days but
have never automated backup verification.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65760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3C5D"/>
                </a:solidFill>
                <a:latin typeface="Calibri"/>
              </a:rPr>
              <a:t>INBOUND VIA CONTENT</a:t>
            </a:r>
          </a:p>
        </p:txBody>
      </p:sp>
      <p:sp>
        <p:nvSpPr>
          <p:cNvPr id="34" name="Oval 33"/>
          <p:cNvSpPr/>
          <p:nvPr/>
        </p:nvSpPr>
        <p:spPr>
          <a:xfrm>
            <a:off x="8412480" y="405079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0" y="39776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Strong infra culture</a:t>
            </a:r>
          </a:p>
        </p:txBody>
      </p:sp>
      <p:sp>
        <p:nvSpPr>
          <p:cNvPr id="36" name="Oval 35"/>
          <p:cNvSpPr/>
          <p:nvPr/>
        </p:nvSpPr>
        <p:spPr>
          <a:xfrm>
            <a:off x="8412480" y="441655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0" y="43434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Already pay for Datadog tier</a:t>
            </a:r>
          </a:p>
        </p:txBody>
      </p:sp>
      <p:sp>
        <p:nvSpPr>
          <p:cNvPr id="38" name="Oval 37"/>
          <p:cNvSpPr/>
          <p:nvPr/>
        </p:nvSpPr>
        <p:spPr>
          <a:xfrm>
            <a:off x="8412480" y="478231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470916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F3F46"/>
                </a:solidFill>
                <a:latin typeface="Calibri"/>
              </a:rPr>
              <a:t>Self-serve onboarding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71717A"/>
                </a:solidFill>
                <a:latin typeface="Calibri"/>
              </a:rPr>
              <a:t>Bottom-up via SOC 2 prep → expansion into the rest of the company. Land at $99, expand to $299, retain on the audit trail.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3C5D"/>
                </a:solidFill>
                <a:latin typeface="Calibri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Pricing by how often you verify.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SOTERIA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Trial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8181B"/>
                </a:solidFill>
                <a:latin typeface="Calibri"/>
              </a:rPr>
              <a:t>Free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91840"/>
            <a:ext cx="3108960" cy="594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3108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83C5D"/>
                </a:solidFill>
                <a:latin typeface="Calibri"/>
              </a:rPr>
              <a:t>FREE FOR 14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1304A"/>
                </a:solidFill>
                <a:latin typeface="Calibri"/>
              </a:rPr>
              <a:t>Daily drills, full access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1422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069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10 databases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46227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10 team seats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7823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Signed PDF evidence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10235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292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7-year retention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54223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3492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API &amp; webhooks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57424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Community support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182880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283C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92040" y="169164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1709928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MOST POPULAR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2103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Starter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25146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8181B"/>
                </a:solidFill>
                <a:latin typeface="Calibri"/>
              </a:rPr>
              <a:t>$99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7880" y="274320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/mo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17720" y="3291840"/>
            <a:ext cx="3108960" cy="594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3337560"/>
            <a:ext cx="3108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83C5D"/>
                </a:solidFill>
                <a:latin typeface="Calibri"/>
              </a:rPr>
              <a:t>DRILL FREQUENCY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3547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1304A"/>
                </a:solidFill>
                <a:latin typeface="Calibri"/>
              </a:rPr>
              <a:t>Daily</a:t>
            </a:r>
          </a:p>
        </p:txBody>
      </p:sp>
      <p:sp>
        <p:nvSpPr>
          <p:cNvPr id="34" name="Oval 33"/>
          <p:cNvSpPr/>
          <p:nvPr/>
        </p:nvSpPr>
        <p:spPr>
          <a:xfrm>
            <a:off x="4617720" y="41422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4069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10 databases</a:t>
            </a:r>
          </a:p>
        </p:txBody>
      </p:sp>
      <p:sp>
        <p:nvSpPr>
          <p:cNvPr id="36" name="Oval 35"/>
          <p:cNvSpPr/>
          <p:nvPr/>
        </p:nvSpPr>
        <p:spPr>
          <a:xfrm>
            <a:off x="4617720" y="446227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43891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10 team seats</a:t>
            </a:r>
          </a:p>
        </p:txBody>
      </p:sp>
      <p:sp>
        <p:nvSpPr>
          <p:cNvPr id="38" name="Oval 37"/>
          <p:cNvSpPr/>
          <p:nvPr/>
        </p:nvSpPr>
        <p:spPr>
          <a:xfrm>
            <a:off x="4617720" y="47823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00600" y="47091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Signed PDF evidence</a:t>
            </a:r>
          </a:p>
        </p:txBody>
      </p:sp>
      <p:sp>
        <p:nvSpPr>
          <p:cNvPr id="40" name="Oval 39"/>
          <p:cNvSpPr/>
          <p:nvPr/>
        </p:nvSpPr>
        <p:spPr>
          <a:xfrm>
            <a:off x="4617720" y="510235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0600" y="50292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7-year retention</a:t>
            </a:r>
          </a:p>
        </p:txBody>
      </p:sp>
      <p:sp>
        <p:nvSpPr>
          <p:cNvPr id="42" name="Oval 41"/>
          <p:cNvSpPr/>
          <p:nvPr/>
        </p:nvSpPr>
        <p:spPr>
          <a:xfrm>
            <a:off x="4617720" y="54223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53492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API &amp; webhooks · Slack alerts</a:t>
            </a:r>
          </a:p>
        </p:txBody>
      </p:sp>
      <p:sp>
        <p:nvSpPr>
          <p:cNvPr id="44" name="Oval 43"/>
          <p:cNvSpPr/>
          <p:nvPr/>
        </p:nvSpPr>
        <p:spPr>
          <a:xfrm>
            <a:off x="4617720" y="57424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56692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Email support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38160" y="182880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2103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8181B"/>
                </a:solidFill>
                <a:latin typeface="Calibri"/>
              </a:rPr>
              <a:t>Pro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25146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8181B"/>
                </a:solidFill>
                <a:latin typeface="Calibri"/>
              </a:rPr>
              <a:t>$299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274320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1717A"/>
                </a:solidFill>
                <a:latin typeface="Calibri"/>
              </a:rPr>
              <a:t>/mo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12480" y="3291840"/>
            <a:ext cx="3108960" cy="5943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80" y="3337560"/>
            <a:ext cx="3108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283C5D"/>
                </a:solidFill>
                <a:latin typeface="Calibri"/>
              </a:rPr>
              <a:t>DRILL FREQUENCY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35478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1304A"/>
                </a:solidFill>
                <a:latin typeface="Calibri"/>
              </a:rPr>
              <a:t>Hourly</a:t>
            </a:r>
          </a:p>
        </p:txBody>
      </p:sp>
      <p:sp>
        <p:nvSpPr>
          <p:cNvPr id="53" name="Oval 52"/>
          <p:cNvSpPr/>
          <p:nvPr/>
        </p:nvSpPr>
        <p:spPr>
          <a:xfrm>
            <a:off x="8412480" y="41422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0" y="40690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Unlimited databases</a:t>
            </a:r>
          </a:p>
        </p:txBody>
      </p:sp>
      <p:sp>
        <p:nvSpPr>
          <p:cNvPr id="55" name="Oval 54"/>
          <p:cNvSpPr/>
          <p:nvPr/>
        </p:nvSpPr>
        <p:spPr>
          <a:xfrm>
            <a:off x="8412480" y="446227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0" y="43891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Unlimited team seats</a:t>
            </a:r>
          </a:p>
        </p:txBody>
      </p:sp>
      <p:sp>
        <p:nvSpPr>
          <p:cNvPr id="57" name="Oval 56"/>
          <p:cNvSpPr/>
          <p:nvPr/>
        </p:nvSpPr>
        <p:spPr>
          <a:xfrm>
            <a:off x="8412480" y="47823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5360" y="47091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Signed PDF evidence</a:t>
            </a:r>
          </a:p>
        </p:txBody>
      </p:sp>
      <p:sp>
        <p:nvSpPr>
          <p:cNvPr id="59" name="Oval 58"/>
          <p:cNvSpPr/>
          <p:nvPr/>
        </p:nvSpPr>
        <p:spPr>
          <a:xfrm>
            <a:off x="8412480" y="510235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95360" y="50292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7-year retention</a:t>
            </a:r>
          </a:p>
        </p:txBody>
      </p:sp>
      <p:sp>
        <p:nvSpPr>
          <p:cNvPr id="61" name="Oval 60"/>
          <p:cNvSpPr/>
          <p:nvPr/>
        </p:nvSpPr>
        <p:spPr>
          <a:xfrm>
            <a:off x="8412480" y="542239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95360" y="534924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API &amp; webhooks · Slack</a:t>
            </a:r>
          </a:p>
        </p:txBody>
      </p:sp>
      <p:sp>
        <p:nvSpPr>
          <p:cNvPr id="63" name="Oval 62"/>
          <p:cNvSpPr/>
          <p:nvPr/>
        </p:nvSpPr>
        <p:spPr>
          <a:xfrm>
            <a:off x="8412480" y="57424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95360" y="56692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F3F46"/>
                </a:solidFill>
                <a:latin typeface="Calibri"/>
              </a:rPr>
              <a:t>SSO/SAML · Priority support · SLA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71717A"/>
                </a:solidFill>
                <a:latin typeface="Calibri"/>
              </a:rPr>
              <a:t>Enterprise: SOC 2 docs, custom retention, self-hosted runner in your VPC — contact sales.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3C5D"/>
                </a:solidFill>
                <a:latin typeface="Calibri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Where we stand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SOTERIA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47857"/>
                </a:solidFill>
                <a:latin typeface="Calibri"/>
              </a:rPr>
              <a:t>✓ 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Calibri"/>
              </a:rPr>
              <a:t>Product code-complete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691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47857"/>
                </a:solidFill>
                <a:latin typeface="Calibri"/>
              </a:rPr>
              <a:t>✓ 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Calibri"/>
              </a:rPr>
              <a:t>Deployment pipeline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691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283C5D"/>
                </a:solidFill>
                <a:latin typeface="Calibri"/>
              </a:rPr>
              <a:t>○ 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83C5D"/>
                </a:solidFill>
                <a:latin typeface="Calibri"/>
              </a:rPr>
              <a:t>Onboarding 5 design partners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88920"/>
            <a:ext cx="553212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54864" cy="3657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017520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SHIPPED — IN THE REPO TODAY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352044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4290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Drill engine: fetch · restore · assert · sign · teardown</a:t>
            </a:r>
          </a:p>
        </p:txBody>
      </p:sp>
      <p:sp>
        <p:nvSpPr>
          <p:cNvPr id="21" name="Oval 20"/>
          <p:cNvSpPr/>
          <p:nvPr/>
        </p:nvSpPr>
        <p:spPr>
          <a:xfrm>
            <a:off x="822960" y="390448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81304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Multi-tenant SaaS: auth, MFA, RBAC, billing (Stripe), audit log</a:t>
            </a:r>
          </a:p>
        </p:txBody>
      </p:sp>
      <p:sp>
        <p:nvSpPr>
          <p:cNvPr id="23" name="Oval 22"/>
          <p:cNvSpPr/>
          <p:nvPr/>
        </p:nvSpPr>
        <p:spPr>
          <a:xfrm>
            <a:off x="822960" y="428853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19709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Evidence vault: Ed25519 signed PDFs, AES-GCM, 7-year retention</a:t>
            </a:r>
          </a:p>
        </p:txBody>
      </p:sp>
      <p:sp>
        <p:nvSpPr>
          <p:cNvPr id="25" name="Oval 24"/>
          <p:cNvSpPr/>
          <p:nvPr/>
        </p:nvSpPr>
        <p:spPr>
          <a:xfrm>
            <a:off x="822960" y="4672584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58114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Versioned JSON API + signed webhooks</a:t>
            </a:r>
          </a:p>
        </p:txBody>
      </p:sp>
      <p:sp>
        <p:nvSpPr>
          <p:cNvPr id="27" name="Oval 26"/>
          <p:cNvSpPr/>
          <p:nvPr/>
        </p:nvSpPr>
        <p:spPr>
          <a:xfrm>
            <a:off x="822960" y="505663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9651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Fly.io deployment with auto-deploy on green CI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544068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34924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Persistent evidence storage, monitoring hooks</a:t>
            </a:r>
          </a:p>
        </p:txBody>
      </p:sp>
      <p:sp>
        <p:nvSpPr>
          <p:cNvPr id="31" name="Oval 30"/>
          <p:cNvSpPr/>
          <p:nvPr/>
        </p:nvSpPr>
        <p:spPr>
          <a:xfrm>
            <a:off x="822960" y="582472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332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Pricing, signup, onboarding flows</a:t>
            </a:r>
          </a:p>
        </p:txBody>
      </p:sp>
      <p:sp>
        <p:nvSpPr>
          <p:cNvPr id="33" name="Oval 32"/>
          <p:cNvSpPr/>
          <p:nvPr/>
        </p:nvSpPr>
        <p:spPr>
          <a:xfrm>
            <a:off x="822960" y="620877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611733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Compliance-ready: SOC 2 evidence model, immutable audit trail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2788920"/>
            <a:ext cx="5532120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72200" y="2788920"/>
            <a:ext cx="54864" cy="3657600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017520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3C5D"/>
                </a:solidFill>
                <a:latin typeface="Calibri"/>
              </a:rPr>
              <a:t>NEXT 90 DAYS</a:t>
            </a:r>
          </a:p>
        </p:txBody>
      </p:sp>
      <p:sp>
        <p:nvSpPr>
          <p:cNvPr id="38" name="Oval 37"/>
          <p:cNvSpPr/>
          <p:nvPr/>
        </p:nvSpPr>
        <p:spPr>
          <a:xfrm>
            <a:off x="6446520" y="3520440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4290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Onboard 5 design-partner customers</a:t>
            </a:r>
          </a:p>
        </p:txBody>
      </p:sp>
      <p:sp>
        <p:nvSpPr>
          <p:cNvPr id="40" name="Oval 39"/>
          <p:cNvSpPr/>
          <p:nvPr/>
        </p:nvSpPr>
        <p:spPr>
          <a:xfrm>
            <a:off x="6446520" y="3904488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381304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Drill real production Postgres dumps end-to-end</a:t>
            </a:r>
          </a:p>
        </p:txBody>
      </p:sp>
      <p:sp>
        <p:nvSpPr>
          <p:cNvPr id="42" name="Oval 41"/>
          <p:cNvSpPr/>
          <p:nvPr/>
        </p:nvSpPr>
        <p:spPr>
          <a:xfrm>
            <a:off x="6446520" y="4288536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419709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$99 / $299 paid subscription via Stripe</a:t>
            </a:r>
          </a:p>
        </p:txBody>
      </p:sp>
      <p:sp>
        <p:nvSpPr>
          <p:cNvPr id="44" name="Oval 43"/>
          <p:cNvSpPr/>
          <p:nvPr/>
        </p:nvSpPr>
        <p:spPr>
          <a:xfrm>
            <a:off x="6446520" y="4672584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4581144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SOC 2 Type I evidence pack (using our own product)</a:t>
            </a:r>
          </a:p>
        </p:txBody>
      </p:sp>
      <p:sp>
        <p:nvSpPr>
          <p:cNvPr id="46" name="Oval 45"/>
          <p:cNvSpPr/>
          <p:nvPr/>
        </p:nvSpPr>
        <p:spPr>
          <a:xfrm>
            <a:off x="6446520" y="5056632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49651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Marketing site + docs (Astro)</a:t>
            </a:r>
          </a:p>
        </p:txBody>
      </p:sp>
      <p:sp>
        <p:nvSpPr>
          <p:cNvPr id="48" name="Oval 47"/>
          <p:cNvSpPr/>
          <p:nvPr/>
        </p:nvSpPr>
        <p:spPr>
          <a:xfrm>
            <a:off x="6446520" y="5440680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29400" y="534924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Observability + first SLA</a:t>
            </a:r>
          </a:p>
        </p:txBody>
      </p:sp>
      <p:sp>
        <p:nvSpPr>
          <p:cNvPr id="50" name="Oval 49"/>
          <p:cNvSpPr/>
          <p:nvPr/>
        </p:nvSpPr>
        <p:spPr>
          <a:xfrm>
            <a:off x="6446520" y="5824728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400" y="573328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MySQL &amp; SQL Server connectors</a:t>
            </a:r>
          </a:p>
        </p:txBody>
      </p:sp>
      <p:sp>
        <p:nvSpPr>
          <p:cNvPr id="52" name="Oval 51"/>
          <p:cNvSpPr/>
          <p:nvPr/>
        </p:nvSpPr>
        <p:spPr>
          <a:xfrm>
            <a:off x="6446520" y="6208776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400" y="611733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Self-hosted runner option for enterprise pilots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3C5D"/>
                </a:solidFill>
                <a:latin typeface="Calibri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8181B"/>
                </a:solidFill>
                <a:latin typeface="Calibri"/>
              </a:rPr>
              <a:t>The next 90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A1A1AA"/>
                </a:solidFill>
                <a:latin typeface="Calibri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A1A1AA"/>
                </a:solidFill>
                <a:latin typeface="Calibri"/>
              </a:rPr>
              <a:t>SOTERIA  ·  Backup verification you can 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657600" cy="777240"/>
          </a:xfrm>
          <a:prstGeom prst="roundRect">
            <a:avLst>
              <a:gd name="adj" fmla="val 4000"/>
            </a:avLst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642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 – 30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Launch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651760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60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Fly.io production live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035808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4436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Stripe + Postmark wired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419856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3284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5 design partners onboarded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803904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71246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Real drills running on real DBs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187952"/>
            <a:ext cx="91440" cy="91440"/>
          </a:xfrm>
          <a:prstGeom prst="ellipse">
            <a:avLst/>
          </a:prstGeom>
          <a:solidFill>
            <a:srgbClr val="283C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0965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Daily evidence PDFs delivered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55448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43400" y="1554480"/>
            <a:ext cx="3657600" cy="777240"/>
          </a:xfrm>
          <a:prstGeom prst="roundRect">
            <a:avLst>
              <a:gd name="adj" fmla="val 4000"/>
            </a:avLst>
          </a:prstGeom>
          <a:solidFill>
            <a:srgbClr val="3F5E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16642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30 – 60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19202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Convert</a:t>
            </a:r>
          </a:p>
        </p:txBody>
      </p:sp>
      <p:sp>
        <p:nvSpPr>
          <p:cNvPr id="25" name="Oval 24"/>
          <p:cNvSpPr/>
          <p:nvPr/>
        </p:nvSpPr>
        <p:spPr>
          <a:xfrm>
            <a:off x="4617720" y="2651760"/>
            <a:ext cx="91440" cy="91440"/>
          </a:xfrm>
          <a:prstGeom prst="ellipse">
            <a:avLst/>
          </a:prstGeom>
          <a:solidFill>
            <a:srgbClr val="3F5E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2560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Design partners → paying ($99–$299)</a:t>
            </a:r>
          </a:p>
        </p:txBody>
      </p:sp>
      <p:sp>
        <p:nvSpPr>
          <p:cNvPr id="27" name="Oval 26"/>
          <p:cNvSpPr/>
          <p:nvPr/>
        </p:nvSpPr>
        <p:spPr>
          <a:xfrm>
            <a:off x="4617720" y="3035808"/>
            <a:ext cx="91440" cy="91440"/>
          </a:xfrm>
          <a:prstGeom prst="ellipse">
            <a:avLst/>
          </a:prstGeom>
          <a:solidFill>
            <a:srgbClr val="3F5E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294436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case study published</a:t>
            </a:r>
          </a:p>
        </p:txBody>
      </p:sp>
      <p:sp>
        <p:nvSpPr>
          <p:cNvPr id="29" name="Oval 28"/>
          <p:cNvSpPr/>
          <p:nvPr/>
        </p:nvSpPr>
        <p:spPr>
          <a:xfrm>
            <a:off x="4617720" y="3419856"/>
            <a:ext cx="91440" cy="91440"/>
          </a:xfrm>
          <a:prstGeom prst="ellipse">
            <a:avLst/>
          </a:prstGeom>
          <a:solidFill>
            <a:srgbClr val="3F5E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0600" y="33284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MySQL connector beta</a:t>
            </a:r>
          </a:p>
        </p:txBody>
      </p:sp>
      <p:sp>
        <p:nvSpPr>
          <p:cNvPr id="31" name="Oval 30"/>
          <p:cNvSpPr/>
          <p:nvPr/>
        </p:nvSpPr>
        <p:spPr>
          <a:xfrm>
            <a:off x="4617720" y="3803904"/>
            <a:ext cx="91440" cy="91440"/>
          </a:xfrm>
          <a:prstGeom prst="ellipse">
            <a:avLst/>
          </a:prstGeom>
          <a:solidFill>
            <a:srgbClr val="3F5E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00600" y="371246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Slack integration GA</a:t>
            </a:r>
          </a:p>
        </p:txBody>
      </p:sp>
      <p:sp>
        <p:nvSpPr>
          <p:cNvPr id="33" name="Oval 32"/>
          <p:cNvSpPr/>
          <p:nvPr/>
        </p:nvSpPr>
        <p:spPr>
          <a:xfrm>
            <a:off x="4617720" y="4187952"/>
            <a:ext cx="91440" cy="91440"/>
          </a:xfrm>
          <a:prstGeom prst="ellipse">
            <a:avLst/>
          </a:prstGeom>
          <a:solidFill>
            <a:srgbClr val="3F5E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00600" y="40965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SOC 2 Type I kickoff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1554480"/>
            <a:ext cx="3657600" cy="457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38160" y="1554480"/>
            <a:ext cx="3657600" cy="777240"/>
          </a:xfrm>
          <a:prstGeom prst="roundRect">
            <a:avLst>
              <a:gd name="adj" fmla="val 4000"/>
            </a:avLst>
          </a:prstGeom>
          <a:solidFill>
            <a:srgbClr val="84A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16642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60 – 90 DAYS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19202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Scale</a:t>
            </a:r>
          </a:p>
        </p:txBody>
      </p:sp>
      <p:sp>
        <p:nvSpPr>
          <p:cNvPr id="39" name="Oval 38"/>
          <p:cNvSpPr/>
          <p:nvPr/>
        </p:nvSpPr>
        <p:spPr>
          <a:xfrm>
            <a:off x="8412480" y="2651760"/>
            <a:ext cx="91440" cy="91440"/>
          </a:xfrm>
          <a:prstGeom prst="ellipse">
            <a:avLst/>
          </a:prstGeom>
          <a:solidFill>
            <a:srgbClr val="84A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2560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10 paying customers</a:t>
            </a:r>
          </a:p>
        </p:txBody>
      </p:sp>
      <p:sp>
        <p:nvSpPr>
          <p:cNvPr id="41" name="Oval 40"/>
          <p:cNvSpPr/>
          <p:nvPr/>
        </p:nvSpPr>
        <p:spPr>
          <a:xfrm>
            <a:off x="8412480" y="3035808"/>
            <a:ext cx="91440" cy="91440"/>
          </a:xfrm>
          <a:prstGeom prst="ellipse">
            <a:avLst/>
          </a:prstGeom>
          <a:solidFill>
            <a:srgbClr val="84A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0" y="294436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Inbound from content + SEO</a:t>
            </a:r>
          </a:p>
        </p:txBody>
      </p:sp>
      <p:sp>
        <p:nvSpPr>
          <p:cNvPr id="43" name="Oval 42"/>
          <p:cNvSpPr/>
          <p:nvPr/>
        </p:nvSpPr>
        <p:spPr>
          <a:xfrm>
            <a:off x="8412480" y="3419856"/>
            <a:ext cx="91440" cy="91440"/>
          </a:xfrm>
          <a:prstGeom prst="ellipse">
            <a:avLst/>
          </a:prstGeom>
          <a:solidFill>
            <a:srgbClr val="84A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95360" y="332841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SQL Server connector beta</a:t>
            </a:r>
          </a:p>
        </p:txBody>
      </p:sp>
      <p:sp>
        <p:nvSpPr>
          <p:cNvPr id="45" name="Oval 44"/>
          <p:cNvSpPr/>
          <p:nvPr/>
        </p:nvSpPr>
        <p:spPr>
          <a:xfrm>
            <a:off x="8412480" y="3803904"/>
            <a:ext cx="91440" cy="91440"/>
          </a:xfrm>
          <a:prstGeom prst="ellipse">
            <a:avLst/>
          </a:prstGeom>
          <a:solidFill>
            <a:srgbClr val="84A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0" y="3712464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enterprise pilot</a:t>
            </a:r>
          </a:p>
        </p:txBody>
      </p:sp>
      <p:sp>
        <p:nvSpPr>
          <p:cNvPr id="47" name="Oval 46"/>
          <p:cNvSpPr/>
          <p:nvPr/>
        </p:nvSpPr>
        <p:spPr>
          <a:xfrm>
            <a:off x="8412480" y="4187952"/>
            <a:ext cx="91440" cy="91440"/>
          </a:xfrm>
          <a:prstGeom prst="ellipse">
            <a:avLst/>
          </a:prstGeom>
          <a:solidFill>
            <a:srgbClr val="84A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0" y="409651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3F46"/>
                </a:solidFill>
                <a:latin typeface="Calibri"/>
              </a:rPr>
              <a:t>First $1k MRR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8076895" cy="6858000"/>
          </a:xfrm>
          <a:prstGeom prst="rect">
            <a:avLst/>
          </a:prstGeom>
          <a:solidFill>
            <a:srgbClr val="21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4A0C6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Let’s build the proof layer
for every backup.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D6E0EE"/>
                </a:solidFill>
                <a:latin typeface="Calibri"/>
              </a:rPr>
              <a:t>Soteria — backup verification you can prove.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120640"/>
            <a:ext cx="5943600" cy="1280160"/>
          </a:xfrm>
          <a:prstGeom prst="roundRect">
            <a:avLst>
              <a:gd name="adj" fmla="val 6000"/>
            </a:avLst>
          </a:prstGeom>
          <a:solidFill>
            <a:srgbClr val="28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2578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84A0C6"/>
                </a:solidFill>
                <a:latin typeface="Calibri"/>
              </a:rPr>
              <a:t>CONTACT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5321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ianrocks62@gmail.com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978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D6E0EE"/>
                </a:solidFill>
                <a:latin typeface="Consolas"/>
              </a:rPr>
              <a:t>github.com/preshotcome/anything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